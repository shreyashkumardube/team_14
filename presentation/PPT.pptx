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at we built and why" id="{435b5e84-26f4-4d4d-646b-961ade881231}">
          <p14:sldIdLst>
            <p14:sldId id="256"/>
            <p14:sldId id="257"/>
          </p14:sldIdLst>
        </p14:section>
        <p14:section name="How the system works" id="{21d20445-1288-e793-8722-6cfbac7565c8}">
          <p14:sldIdLst>
            <p14:sldId id="258"/>
            <p14:sldId id="259"/>
            <p14:sldId id="260"/>
            <p14:sldId id="261"/>
          </p14:sldIdLst>
        </p14:section>
        <p14:section name="Results and measurements" id="{b0e9c62a-fcc5-cb52-764d-f674296f04df}">
          <p14:sldIdLst>
            <p14:sldId id="262"/>
            <p14:sldId id="263"/>
            <p14:sldId id="264"/>
          </p14:sldIdLst>
        </p14:section>
        <p14:section name="Lab, live demo, team and conclusion" id="{10686cb2-c4c2-109e-4f81-0a350b73a3f9}">
          <p14:sldIdLst>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A5363"/>
                </a:solidFill>
                <a:latin typeface="+mn-lt"/>
              </a:defRPr>
            </a:pPr>
            <a:r>
              <a:rPr sz="1400" b="0" i="0" u="none" strike="noStrike">
                <a:solidFill>
                  <a:srgbClr val="4A5363"/>
                </a:solidFill>
                <a:latin typeface="+mn-lt"/>
              </a:rPr>
              <a:t>Images (of 7 with faces) in which every face was found</a:t>
            </a:r>
          </a:p>
        </c:rich>
      </c:tx>
      <c:layout/>
      <c:overlay val="0"/>
    </c:title>
    <c:autoTitleDeleted val="0"/>
    <c:plotArea>
      <c:layout/>
      <c:barChart>
        <c:barDir val="bar"/>
        <c:grouping val="clustered"/>
        <c:varyColors val="0"/>
        <c:ser>
          <c:idx val="0"/>
          <c:order val="0"/>
          <c:tx>
            <c:strRef>
              <c:f>Sheet1!$B$1</c:f>
              <c:strCache>
                <c:ptCount val="1"/>
                <c:pt idx="0">
                  <c:v>BlazeFace multi-scale</c:v>
                </c:pt>
              </c:strCache>
            </c:strRef>
          </c:tx>
          <c:spPr>
            <a:solidFill>
              <a:srgbClr val="1F8F7A"/>
            </a:solidFill>
            <a:effectLst/>
          </c:spPr>
          <c:invertIfNegative val="0"/>
          <c:dLbls>
            <c:numFmt formatCode="#,##0" sourceLinked="0"/>
            <c:txPr>
              <a:bodyPr/>
              <a:lstStyle/>
              <a:p>
                <a:pPr>
                  <a:defRPr b="0" i="0" strike="noStrike" sz="1400" u="none">
                    <a:solidFill>
                      <a:srgbClr val="4A5363"/>
                    </a:solidFill>
                    <a:latin typeface="+mn-lt"/>
                  </a:defRPr>
                </a:pPr>
              </a:p>
            </c:txPr>
            <c:showLegendKey val="0"/>
            <c:showVal val="1"/>
            <c:showCatName val="0"/>
            <c:showSerName val="0"/>
            <c:showPercent val="0"/>
            <c:showBubbleSize val="0"/>
            <c:showLeaderLines val="0"/>
          </c:dLbls>
          <c:cat>
            <c:multiLvlStrRef>
              <c:f>Sheet1!$A$2:$A$6</c:f>
              <c:multiLvlStrCache>
                <c:ptCount val="5"/>
                <c:lvl>
                  <c:pt idx="0">
                    <c:v>Original</c:v>
                  </c:pt>
                  <c:pt idx="1">
                    <c:v>Rotated 30°</c:v>
                  </c:pt>
                  <c:pt idx="2">
                    <c:v>Rotated 45°</c:v>
                  </c:pt>
                  <c:pt idx="3">
                    <c:v>Down-scaled to 40%</c:v>
                  </c:pt>
                  <c:pt idx="4">
                    <c:v>Noise σ = 50</c:v>
                  </c:pt>
                </c:lvl>
              </c:multiLvlStrCache>
            </c:multiLvlStrRef>
          </c:cat>
          <c:val>
            <c:numRef>
              <c:f>Sheet1!$B$2:$B$6</c:f>
              <c:numCache>
                <c:formatCode>General</c:formatCode>
                <c:ptCount val="5"/>
                <c:pt idx="0">
                  <c:v>6</c:v>
                </c:pt>
                <c:pt idx="1">
                  <c:v>6</c:v>
                </c:pt>
                <c:pt idx="2">
                  <c:v>5</c:v>
                </c:pt>
                <c:pt idx="3">
                  <c:v>7</c:v>
                </c:pt>
                <c:pt idx="4">
                  <c:v>2</c:v>
                </c:pt>
              </c:numCache>
            </c:numRef>
          </c:val>
        </c:ser>
        <c:ser>
          <c:idx val="1"/>
          <c:order val="1"/>
          <c:tx>
            <c:strRef>
              <c:f>Sheet1!$C$1</c:f>
              <c:strCache>
                <c:ptCount val="1"/>
                <c:pt idx="0">
                  <c:v>Haar cascade</c:v>
                </c:pt>
              </c:strCache>
            </c:strRef>
          </c:tx>
          <c:spPr>
            <a:solidFill>
              <a:srgbClr val="A9A49A"/>
            </a:solidFill>
            <a:effectLst/>
          </c:spPr>
          <c:invertIfNegative val="0"/>
          <c:dLbls>
            <c:numFmt formatCode="#,##0" sourceLinked="0"/>
            <c:txPr>
              <a:bodyPr/>
              <a:lstStyle/>
              <a:p>
                <a:pPr>
                  <a:defRPr b="0" i="0" strike="noStrike" sz="1400" u="none">
                    <a:solidFill>
                      <a:srgbClr val="4A5363"/>
                    </a:solidFill>
                    <a:latin typeface="+mn-lt"/>
                  </a:defRPr>
                </a:pPr>
              </a:p>
            </c:txPr>
            <c:showLegendKey val="0"/>
            <c:showVal val="1"/>
            <c:showCatName val="0"/>
            <c:showSerName val="0"/>
            <c:showPercent val="0"/>
            <c:showBubbleSize val="0"/>
            <c:showLeaderLines val="0"/>
          </c:dLbls>
          <c:cat>
            <c:multiLvlStrRef>
              <c:f>Sheet1!$A$2:$A$6</c:f>
              <c:multiLvlStrCache>
                <c:ptCount val="5"/>
                <c:lvl>
                  <c:pt idx="0">
                    <c:v>Original</c:v>
                  </c:pt>
                  <c:pt idx="1">
                    <c:v>Rotated 30°</c:v>
                  </c:pt>
                  <c:pt idx="2">
                    <c:v>Rotated 45°</c:v>
                  </c:pt>
                  <c:pt idx="3">
                    <c:v>Down-scaled to 40%</c:v>
                  </c:pt>
                  <c:pt idx="4">
                    <c:v>Noise σ = 50</c:v>
                  </c:pt>
                </c:lvl>
              </c:multiLvlStrCache>
            </c:multiLvlStrRef>
          </c:cat>
          <c:val>
            <c:numRef>
              <c:f>Sheet1!$C$2:$C$6</c:f>
              <c:numCache>
                <c:formatCode>General</c:formatCode>
                <c:ptCount val="5"/>
                <c:pt idx="0">
                  <c:v>7</c:v>
                </c:pt>
                <c:pt idx="1">
                  <c:v>1</c:v>
                </c:pt>
                <c:pt idx="2">
                  <c:v>2</c:v>
                </c:pt>
                <c:pt idx="3">
                  <c:v>4</c:v>
                </c:pt>
                <c:pt idx="4">
                  <c:v>6</c:v>
                </c:pt>
              </c:numCache>
            </c:numRef>
          </c:val>
        </c:ser>
        <c:dLbls>
          <c:numFmt formatCode="#,##0" sourceLinked="0"/>
          <c:txPr>
            <a:bodyPr/>
            <a:lstStyle/>
            <a:p>
              <a:pPr>
                <a:defRPr b="0" i="0" strike="noStrike" sz="1400" u="none">
                  <a:solidFill>
                    <a:srgbClr val="4A536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500" b="0" i="0" u="none" strike="noStrike">
                <a:solidFill>
                  <a:srgbClr val="12161F"/>
                </a:solidFill>
                <a:latin typeface="+mn-lt"/>
              </a:defRPr>
            </a:pPr>
            <a:endParaRPr lang="en-US"/>
          </a:p>
        </c:txPr>
        <c:crossAx val="2094734552"/>
        <c:crosses val="autoZero"/>
        <c:auto val="1"/>
        <c:lblAlgn val="ctr"/>
        <c:noMultiLvlLbl val="1"/>
      </c:catAx>
      <c:valAx>
        <c:axId val="2094734552"/>
        <c:scaling>
          <c:orientation val="minMax"/>
          <c:max val="7"/>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1"/>
      </c:valAx>
      <c:spPr>
        <a:noFill/>
        <a:ln>
          <a:noFill/>
        </a:ln>
        <a:effectLst/>
      </c:spPr>
    </c:plotArea>
    <c:legend>
      <c:legendPos val="t"/>
      <c:overlay val="0"/>
      <c:txPr>
        <a:bodyPr/>
        <a:lstStyle/>
        <a:p>
          <a:pPr>
            <a:defRPr sz="1400">
              <a:solidFill>
                <a:srgbClr val="12161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Sparsh opens. Introduce the team and the topic: Face Studio Camera, a studio app combining OpenCV image processing with MediaPipe face analysis. Say that the demo runs fully offline on this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Sparsh: our goal was to rebuild familiar camera features from the techniques in this course, so each one can be explained and measured. Objectives: a stackable pipeline, face-aware effects, objective metrics, live video, and an interactive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Sparsh: one pipeline object powers the Studio tab, batch mode, live video and the benchmark script. No stage moves pixels geometrically, so landmarks, mask and boxes stay valid through every stage. Stages always run in this order, so effects stack predictably.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Anmol: demo here. Pick Sample image, click Portrait Pro, drag the slider. Then Reset and move Brightness, Contrast and Gamma. Open Results and metrics to show PSNR, SSIM and the histograms.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Shreyash: demo Background blur, then Custom image with your own backdrop photo. Then AR Sunglasses plus Party Hat, Beauty skin smoothing with lip tint, and Privacy Pixelate. Explain that the skin mask is the face oval minus the eyes, brows and lips, so those stay sharp.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Vansh: open Face Analysis, Head pose · eyes · mouth. Explain the head frame and EAR. In the live demo, the blink counter uses EAR: two or more closed frames followed by an open frame count as one blink.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Vansh: our first finding surprised us. The short-range BlazeFace model is designed for selfies, so it missed small faces in group photos. We added multi-scale tiling with non-maximum suppression. Demo: Face Analysis, Detection on a group photo, then untick Multi-scale in the sidebar to show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Vansh: we degraded each test image 12 ways. Haar’s rectangle features are trained on upright faces, so at 30° it found every face in only 1 of 7 images; BlazeFace found them in 6. Haar did better under heavy noise and darkness. Demo: Haar vs MediaPipe, Run robustness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Anmol: timings are from a 4-core CPU without a GPU; on our laptop the live window shows its own FPS. Explain PSNR and SSIM, and why greyscale gets SSIM 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Sparsh: demo the FFT high-pass, then Noise and denoising: salt and pepper with a median filter versus a Gaussian filter, and point at the PSNR it prints. Then Morphology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Sparsh: switch to terminal 2 and run python live_camera.py. Press 1 for sunglasses, 5 for head pose (blink a few times to show the counter), 8 for privacy blur, 0 for portrait mode. Then go back to the browser and show the Batch tab: upload three photos, process, download the ZIP. If the camera fails, switch to the Studio tab with a sample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states their own part in one sentence. Instruction 1 of the notice requires every member’s contribution to be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wrap up in 30 seconds, then take questions. Likely questions and short answers are in docs/DEMO_SCRIPT.md: why not Haar, how portrait mode works, how the glasses are placed, head pose, EAR, SSIM,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2161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content">
    <p:bg>
      <p:bgPr>
        <a:solidFill>
          <a:srgbClr val="F3F4F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rtlCol="0"/>
          <a:lstStyle>
            <a:lvl1pPr algn="l" indent="0" marL="0">
              <a:buNone/>
              <a:defRPr lang="en-US" sz="1300" b="1" spc="200" kern="0" dirty="0">
                <a:solidFill>
                  <a:schemeClr val="accent2"/>
                </a:solidFill>
              </a:defRPr>
            </a:lvl1pPr>
          </a:lstStyle>
          <a:p>
            <a:pPr algn="l" indent="0" marL="0">
              <a:buNone/>
            </a:pPr>
            <a:r>
              <a:rPr lang="en-US" sz="1300" b="1" spc="200" kern="0" dirty="0">
                <a:solidFill>
                  <a:schemeClr val="accent2"/>
                </a:solidFill>
              </a:rPr>
              <a:t>Section</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r>
              <a:rPr lang="en-US" sz="3400" b="1" dirty="0">
                <a:solidFill>
                  <a:schemeClr val="tx1"/>
                </a:solidFill>
              </a:rPr>
              <a:t>Title</a:t>
            </a:r>
            <a:endParaRPr lang="en-US" sz="34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content">
    <p:bg>
      <p:bgPr>
        <a:solidFill>
          <a:srgbClr val="12161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rtlCol="0"/>
          <a:lstStyle>
            <a:lvl1pPr algn="l" indent="0" marL="0">
              <a:buNone/>
              <a:defRPr lang="en-US" sz="1300" b="1" spc="200" kern="0" dirty="0">
                <a:solidFill>
                  <a:schemeClr val="accent1"/>
                </a:solidFill>
              </a:defRPr>
            </a:lvl1pPr>
          </a:lstStyle>
          <a:p>
            <a:pPr algn="l" indent="0" marL="0">
              <a:buNone/>
            </a:pPr>
            <a:r>
              <a:rPr lang="en-US" sz="1300" b="1" spc="200" kern="0" dirty="0">
                <a:solidFill>
                  <a:schemeClr val="accent1"/>
                </a:solidFill>
              </a:rPr>
              <a:t>Section</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r>
              <a:rPr lang="en-US" sz="3400" b="1" dirty="0">
                <a:solidFill>
                  <a:schemeClr val="bg1"/>
                </a:solidFill>
              </a:rPr>
              <a:t>Title</a:t>
            </a:r>
            <a:endParaRPr lang="en-US" sz="34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rgbClr val="2EC4A6"/>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image" descr="Grid of Face Studio Camera effects on a portrait">    </p:cNvPr>
          <p:cNvPicPr>
            <a:picLocks noChangeAspect="1"/>
          </p:cNvPicPr>
          <p:nvPr/>
        </p:nvPicPr>
        <p:blipFill>
          <a:blip r:embed="rId1">
            <a:alphaModFix amt="70000"/>
          </a:blip>
          <a:srcRect l="0" r="0" t="0" b="0"/>
          <a:stretch/>
        </p:blipFill>
        <p:spPr>
          <a:xfrm>
            <a:off x="7223760" y="0"/>
            <a:ext cx="4967935" cy="6858000"/>
          </a:xfrm>
          <a:prstGeom prst="rect">
            <a:avLst/>
          </a:prstGeom>
        </p:spPr>
      </p:pic>
      <p:sp>
        <p:nvSpPr>
          <p:cNvPr id="3" name="Text 0"/>
          <p:cNvSpPr txBox="1"/>
          <p:nvPr/>
        </p:nvSpPr>
        <p:spPr>
          <a:xfrm>
            <a:off x="548640" y="822960"/>
            <a:ext cx="6400800" cy="365760"/>
          </a:xfrm>
          <a:prstGeom prst="rect">
            <a:avLst/>
          </a:prstGeom>
          <a:noFill/>
          <a:ln/>
        </p:spPr>
        <p:txBody>
          <a:bodyPr wrap="square" lIns="0" tIns="0" rIns="0" bIns="0" rtlCol="0" anchor="t"/>
          <a:lstStyle/>
          <a:p>
            <a:pPr indent="0" marL="0">
              <a:buNone/>
            </a:pPr>
            <a:r>
              <a:rPr lang="en-US" sz="1400" b="1" spc="300" kern="0" dirty="0">
                <a:solidFill>
                  <a:schemeClr val="accent1"/>
                </a:solidFill>
              </a:rPr>
              <a:t>IPCV PROJECT · SECTION D · TEAM NO. 14</a:t>
            </a:r>
            <a:endParaRPr lang="en-US" sz="1400" dirty="0"/>
          </a:p>
        </p:txBody>
      </p:sp>
      <p:sp>
        <p:nvSpPr>
          <p:cNvPr id="4" name="Text 1"/>
          <p:cNvSpPr txBox="1"/>
          <p:nvPr/>
        </p:nvSpPr>
        <p:spPr>
          <a:xfrm>
            <a:off x="548640" y="1371600"/>
            <a:ext cx="6583680" cy="1737360"/>
          </a:xfrm>
          <a:prstGeom prst="rect">
            <a:avLst/>
          </a:prstGeom>
          <a:noFill/>
          <a:ln/>
        </p:spPr>
        <p:txBody>
          <a:bodyPr wrap="square" lIns="0" tIns="0" rIns="0" bIns="0" rtlCol="0" anchor="t"/>
          <a:lstStyle/>
          <a:p>
            <a:pPr indent="0" marL="0">
              <a:buNone/>
            </a:pPr>
            <a:r>
              <a:rPr lang="en-US" sz="6000" b="1" dirty="0">
                <a:solidFill>
                  <a:schemeClr val="bg1"/>
                </a:solidFill>
              </a:rPr>
              <a:t>Face Studio Camera</a:t>
            </a:r>
            <a:endParaRPr lang="en-US" sz="6000" dirty="0"/>
          </a:p>
        </p:txBody>
      </p:sp>
      <p:sp>
        <p:nvSpPr>
          <p:cNvPr id="5" name="Text 2"/>
          <p:cNvSpPr txBox="1"/>
          <p:nvPr/>
        </p:nvSpPr>
        <p:spPr>
          <a:xfrm>
            <a:off x="548640" y="3154680"/>
            <a:ext cx="6309360" cy="1188720"/>
          </a:xfrm>
          <a:prstGeom prst="rect">
            <a:avLst/>
          </a:prstGeom>
          <a:noFill/>
          <a:ln/>
        </p:spPr>
        <p:txBody>
          <a:bodyPr wrap="square" lIns="0" tIns="0" rIns="0" bIns="0" rtlCol="0" anchor="t"/>
          <a:lstStyle/>
          <a:p>
            <a:pPr indent="0" marL="0">
              <a:buNone/>
            </a:pPr>
            <a:r>
              <a:rPr lang="en-US" sz="2000" dirty="0">
                <a:solidFill>
                  <a:schemeClr val="accent6"/>
                </a:solidFill>
              </a:rPr>
              <a:t>A real-time photo and live-camera studio built from classical image processing and deep-learning face analysis</a:t>
            </a:r>
            <a:endParaRPr lang="en-US" sz="2000" dirty="0"/>
          </a:p>
        </p:txBody>
      </p:sp>
      <p:sp>
        <p:nvSpPr>
          <p:cNvPr id="6" name="Text 3"/>
          <p:cNvSpPr txBox="1"/>
          <p:nvPr/>
        </p:nvSpPr>
        <p:spPr>
          <a:xfrm>
            <a:off x="548640" y="4846320"/>
            <a:ext cx="3017520" cy="685800"/>
          </a:xfrm>
          <a:prstGeom prst="rect">
            <a:avLst/>
          </a:prstGeom>
          <a:noFill/>
          <a:ln/>
        </p:spPr>
        <p:txBody>
          <a:bodyPr wrap="square" lIns="0" tIns="0" rIns="0" bIns="0" rtlCol="0" anchor="t"/>
          <a:lstStyle/>
          <a:p>
            <a:pPr indent="0" marL="0">
              <a:buNone/>
            </a:pPr>
            <a:r>
              <a:rPr lang="en-US" sz="1500" b="1" dirty="0">
                <a:solidFill>
                  <a:schemeClr val="bg1"/>
                </a:solidFill>
              </a:rPr>
              <a:t>Anmol</a:t>
            </a:r>
            <a:endParaRPr lang="en-US" sz="1500" dirty="0"/>
          </a:p>
          <a:p>
            <a:pPr indent="0" marL="0">
              <a:buNone/>
            </a:pPr>
            <a:r>
              <a:rPr lang="en-US" sz="1500" dirty="0">
                <a:solidFill>
                  <a:schemeClr val="accent6"/>
                </a:solidFill>
              </a:rPr>
              <a:t>20231129</a:t>
            </a:r>
            <a:endParaRPr lang="en-US" sz="1500" dirty="0"/>
          </a:p>
        </p:txBody>
      </p:sp>
      <p:sp>
        <p:nvSpPr>
          <p:cNvPr id="7" name="Text 4"/>
          <p:cNvSpPr txBox="1"/>
          <p:nvPr/>
        </p:nvSpPr>
        <p:spPr>
          <a:xfrm>
            <a:off x="3749040" y="4846320"/>
            <a:ext cx="3017520" cy="685800"/>
          </a:xfrm>
          <a:prstGeom prst="rect">
            <a:avLst/>
          </a:prstGeom>
          <a:noFill/>
          <a:ln/>
        </p:spPr>
        <p:txBody>
          <a:bodyPr wrap="square" lIns="0" tIns="0" rIns="0" bIns="0" rtlCol="0" anchor="t"/>
          <a:lstStyle/>
          <a:p>
            <a:pPr indent="0" marL="0">
              <a:buNone/>
            </a:pPr>
            <a:r>
              <a:rPr lang="en-US" sz="1500" b="1" dirty="0">
                <a:solidFill>
                  <a:schemeClr val="bg1"/>
                </a:solidFill>
              </a:rPr>
              <a:t>Vansh Gupta</a:t>
            </a:r>
            <a:endParaRPr lang="en-US" sz="1500" dirty="0"/>
          </a:p>
          <a:p>
            <a:pPr indent="0" marL="0">
              <a:buNone/>
            </a:pPr>
            <a:r>
              <a:rPr lang="en-US" sz="1500" dirty="0">
                <a:solidFill>
                  <a:schemeClr val="accent6"/>
                </a:solidFill>
              </a:rPr>
              <a:t>20233303</a:t>
            </a:r>
            <a:endParaRPr lang="en-US" sz="1500" dirty="0"/>
          </a:p>
        </p:txBody>
      </p:sp>
      <p:sp>
        <p:nvSpPr>
          <p:cNvPr id="8" name="Text 5"/>
          <p:cNvSpPr txBox="1"/>
          <p:nvPr/>
        </p:nvSpPr>
        <p:spPr>
          <a:xfrm>
            <a:off x="548640" y="5623560"/>
            <a:ext cx="3017520" cy="685800"/>
          </a:xfrm>
          <a:prstGeom prst="rect">
            <a:avLst/>
          </a:prstGeom>
          <a:noFill/>
          <a:ln/>
        </p:spPr>
        <p:txBody>
          <a:bodyPr wrap="square" lIns="0" tIns="0" rIns="0" bIns="0" rtlCol="0" anchor="t"/>
          <a:lstStyle/>
          <a:p>
            <a:pPr indent="0" marL="0">
              <a:buNone/>
            </a:pPr>
            <a:r>
              <a:rPr lang="en-US" sz="1500" b="1" dirty="0">
                <a:solidFill>
                  <a:schemeClr val="bg1"/>
                </a:solidFill>
              </a:rPr>
              <a:t>Shreyash Kumar Dube</a:t>
            </a:r>
            <a:endParaRPr lang="en-US" sz="1500" dirty="0"/>
          </a:p>
          <a:p>
            <a:pPr indent="0" marL="0">
              <a:buNone/>
            </a:pPr>
            <a:r>
              <a:rPr lang="en-US" sz="1500" dirty="0">
                <a:solidFill>
                  <a:schemeClr val="accent6"/>
                </a:solidFill>
              </a:rPr>
              <a:t>20233567</a:t>
            </a:r>
            <a:endParaRPr lang="en-US" sz="1500" dirty="0"/>
          </a:p>
        </p:txBody>
      </p:sp>
      <p:sp>
        <p:nvSpPr>
          <p:cNvPr id="9" name="Text 6"/>
          <p:cNvSpPr txBox="1"/>
          <p:nvPr/>
        </p:nvSpPr>
        <p:spPr>
          <a:xfrm>
            <a:off x="3749040" y="5623560"/>
            <a:ext cx="3017520" cy="685800"/>
          </a:xfrm>
          <a:prstGeom prst="rect">
            <a:avLst/>
          </a:prstGeom>
          <a:noFill/>
          <a:ln/>
        </p:spPr>
        <p:txBody>
          <a:bodyPr wrap="square" lIns="0" tIns="0" rIns="0" bIns="0" rtlCol="0" anchor="t"/>
          <a:lstStyle/>
          <a:p>
            <a:pPr indent="0" marL="0">
              <a:buNone/>
            </a:pPr>
            <a:r>
              <a:rPr lang="en-US" sz="1500" b="1" dirty="0">
                <a:solidFill>
                  <a:schemeClr val="bg1"/>
                </a:solidFill>
              </a:rPr>
              <a:t>Sparsh Singh</a:t>
            </a:r>
            <a:endParaRPr lang="en-US" sz="1500" dirty="0"/>
          </a:p>
          <a:p>
            <a:pPr indent="0" marL="0">
              <a:buNone/>
            </a:pPr>
            <a:r>
              <a:rPr lang="en-US" sz="1500" dirty="0">
                <a:solidFill>
                  <a:schemeClr val="accent6"/>
                </a:solidFill>
              </a:rPr>
              <a:t>20233277</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2"/>
                </a:solidFill>
              </a:rPr>
              <a:t>MOTIVATION</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tx1"/>
                </a:solidFill>
              </a:rPr>
              <a:t>Every camera effect is an IPCV pipeline in disguise</a:t>
            </a:r>
            <a:endParaRPr lang="en-US" sz="3400" dirty="0"/>
          </a:p>
        </p:txBody>
      </p:sp>
      <p:sp>
        <p:nvSpPr>
          <p:cNvPr id="4" name="Card Portrait mode"/>
          <p:cNvSpPr/>
          <p:nvPr/>
        </p:nvSpPr>
        <p:spPr>
          <a:xfrm>
            <a:off x="548640" y="2103120"/>
            <a:ext cx="3454298" cy="3840480"/>
          </a:xfrm>
          <a:prstGeom prst="roundRect">
            <a:avLst>
              <a:gd name="adj" fmla="val 3177"/>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pic>
        <p:nvPicPr>
          <p:cNvPr id="5" name="Image 0" descr="Portrait mode icon">    </p:cNvPr>
          <p:cNvPicPr>
            <a:picLocks noChangeAspect="1"/>
          </p:cNvPicPr>
          <p:nvPr/>
        </p:nvPicPr>
        <p:blipFill>
          <a:blip r:embed="rId1"/>
          <a:stretch>
            <a:fillRect/>
          </a:stretch>
        </p:blipFill>
        <p:spPr>
          <a:xfrm>
            <a:off x="914400" y="2514600"/>
            <a:ext cx="594360" cy="594360"/>
          </a:xfrm>
          <a:prstGeom prst="rect">
            <a:avLst/>
          </a:prstGeom>
        </p:spPr>
      </p:pic>
      <p:sp>
        <p:nvSpPr>
          <p:cNvPr id="6" name="Text 3"/>
          <p:cNvSpPr txBox="1"/>
          <p:nvPr/>
        </p:nvSpPr>
        <p:spPr>
          <a:xfrm>
            <a:off x="914400" y="3337560"/>
            <a:ext cx="2722778" cy="548640"/>
          </a:xfrm>
          <a:prstGeom prst="rect">
            <a:avLst/>
          </a:prstGeom>
          <a:noFill/>
          <a:ln/>
        </p:spPr>
        <p:txBody>
          <a:bodyPr wrap="square" lIns="0" tIns="0" rIns="0" bIns="0" rtlCol="0" anchor="t"/>
          <a:lstStyle/>
          <a:p>
            <a:pPr indent="0" marL="0">
              <a:buNone/>
            </a:pPr>
            <a:r>
              <a:rPr lang="en-US" sz="2400" b="1" dirty="0">
                <a:solidFill>
                  <a:schemeClr val="tx1"/>
                </a:solidFill>
              </a:rPr>
              <a:t>Portrait mode</a:t>
            </a:r>
            <a:endParaRPr lang="en-US" sz="2400" dirty="0"/>
          </a:p>
        </p:txBody>
      </p:sp>
      <p:sp>
        <p:nvSpPr>
          <p:cNvPr id="7" name="Text 4"/>
          <p:cNvSpPr txBox="1"/>
          <p:nvPr/>
        </p:nvSpPr>
        <p:spPr>
          <a:xfrm>
            <a:off x="914400" y="3931920"/>
            <a:ext cx="2722778" cy="1737360"/>
          </a:xfrm>
          <a:prstGeom prst="rect">
            <a:avLst/>
          </a:prstGeom>
          <a:noFill/>
          <a:ln/>
        </p:spPr>
        <p:txBody>
          <a:bodyPr wrap="square" lIns="0" tIns="0" rIns="0" bIns="0" rtlCol="0" anchor="t"/>
          <a:lstStyle/>
          <a:p>
            <a:pPr indent="0" marL="0">
              <a:lnSpc>
                <a:spcPct val="115000"/>
              </a:lnSpc>
              <a:buNone/>
            </a:pPr>
            <a:r>
              <a:rPr lang="en-US" sz="1600" dirty="0">
                <a:solidFill>
                  <a:schemeClr val="tx2"/>
                </a:solidFill>
              </a:rPr>
              <a:t>Person segmentation, a feathered mask and alpha compositing over a blurred copy</a:t>
            </a:r>
            <a:endParaRPr lang="en-US" sz="1600" dirty="0"/>
          </a:p>
        </p:txBody>
      </p:sp>
      <p:sp>
        <p:nvSpPr>
          <p:cNvPr id="8" name="Card Beauty filters"/>
          <p:cNvSpPr/>
          <p:nvPr/>
        </p:nvSpPr>
        <p:spPr>
          <a:xfrm>
            <a:off x="4368698" y="2103120"/>
            <a:ext cx="3454298" cy="3840480"/>
          </a:xfrm>
          <a:prstGeom prst="roundRect">
            <a:avLst>
              <a:gd name="adj" fmla="val 3177"/>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pic>
        <p:nvPicPr>
          <p:cNvPr id="9" name="Image 1" descr="Beauty filters icon">    </p:cNvPr>
          <p:cNvPicPr>
            <a:picLocks noChangeAspect="1"/>
          </p:cNvPicPr>
          <p:nvPr/>
        </p:nvPicPr>
        <p:blipFill>
          <a:blip r:embed="rId2"/>
          <a:stretch>
            <a:fillRect/>
          </a:stretch>
        </p:blipFill>
        <p:spPr>
          <a:xfrm>
            <a:off x="4734458" y="2514600"/>
            <a:ext cx="594360" cy="594360"/>
          </a:xfrm>
          <a:prstGeom prst="rect">
            <a:avLst/>
          </a:prstGeom>
        </p:spPr>
      </p:pic>
      <p:sp>
        <p:nvSpPr>
          <p:cNvPr id="10" name="Text 6"/>
          <p:cNvSpPr txBox="1"/>
          <p:nvPr/>
        </p:nvSpPr>
        <p:spPr>
          <a:xfrm>
            <a:off x="4734458" y="3337560"/>
            <a:ext cx="2722778" cy="548640"/>
          </a:xfrm>
          <a:prstGeom prst="rect">
            <a:avLst/>
          </a:prstGeom>
          <a:noFill/>
          <a:ln/>
        </p:spPr>
        <p:txBody>
          <a:bodyPr wrap="square" lIns="0" tIns="0" rIns="0" bIns="0" rtlCol="0" anchor="t"/>
          <a:lstStyle/>
          <a:p>
            <a:pPr indent="0" marL="0">
              <a:buNone/>
            </a:pPr>
            <a:r>
              <a:rPr lang="en-US" sz="2400" b="1" dirty="0">
                <a:solidFill>
                  <a:schemeClr val="tx1"/>
                </a:solidFill>
              </a:rPr>
              <a:t>Beauty filters</a:t>
            </a:r>
            <a:endParaRPr lang="en-US" sz="2400" dirty="0"/>
          </a:p>
        </p:txBody>
      </p:sp>
      <p:sp>
        <p:nvSpPr>
          <p:cNvPr id="11" name="Text 7"/>
          <p:cNvSpPr txBox="1"/>
          <p:nvPr/>
        </p:nvSpPr>
        <p:spPr>
          <a:xfrm>
            <a:off x="4734458" y="3931920"/>
            <a:ext cx="2722778" cy="1737360"/>
          </a:xfrm>
          <a:prstGeom prst="rect">
            <a:avLst/>
          </a:prstGeom>
          <a:noFill/>
          <a:ln/>
        </p:spPr>
        <p:txBody>
          <a:bodyPr wrap="square" lIns="0" tIns="0" rIns="0" bIns="0" rtlCol="0" anchor="t"/>
          <a:lstStyle/>
          <a:p>
            <a:pPr indent="0" marL="0">
              <a:lnSpc>
                <a:spcPct val="115000"/>
              </a:lnSpc>
              <a:buNone/>
            </a:pPr>
            <a:r>
              <a:rPr lang="en-US" sz="1600" dirty="0">
                <a:solidFill>
                  <a:schemeClr val="tx2"/>
                </a:solidFill>
              </a:rPr>
              <a:t>An edge-preserving bilateral filter, applied only inside a landmark-built skin mask</a:t>
            </a:r>
            <a:endParaRPr lang="en-US" sz="1600" dirty="0"/>
          </a:p>
        </p:txBody>
      </p:sp>
      <p:sp>
        <p:nvSpPr>
          <p:cNvPr id="12" name="Card AR lenses"/>
          <p:cNvSpPr/>
          <p:nvPr/>
        </p:nvSpPr>
        <p:spPr>
          <a:xfrm>
            <a:off x="8188757" y="2103120"/>
            <a:ext cx="3454298" cy="3840480"/>
          </a:xfrm>
          <a:prstGeom prst="roundRect">
            <a:avLst>
              <a:gd name="adj" fmla="val 3177"/>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pic>
        <p:nvPicPr>
          <p:cNvPr id="13" name="Image 2" descr="AR lenses icon">    </p:cNvPr>
          <p:cNvPicPr>
            <a:picLocks noChangeAspect="1"/>
          </p:cNvPicPr>
          <p:nvPr/>
        </p:nvPicPr>
        <p:blipFill>
          <a:blip r:embed="rId3"/>
          <a:stretch>
            <a:fillRect/>
          </a:stretch>
        </p:blipFill>
        <p:spPr>
          <a:xfrm>
            <a:off x="8554517" y="2514600"/>
            <a:ext cx="594360" cy="594360"/>
          </a:xfrm>
          <a:prstGeom prst="rect">
            <a:avLst/>
          </a:prstGeom>
        </p:spPr>
      </p:pic>
      <p:sp>
        <p:nvSpPr>
          <p:cNvPr id="14" name="Text 9"/>
          <p:cNvSpPr txBox="1"/>
          <p:nvPr/>
        </p:nvSpPr>
        <p:spPr>
          <a:xfrm>
            <a:off x="8554517" y="3337560"/>
            <a:ext cx="2722778" cy="548640"/>
          </a:xfrm>
          <a:prstGeom prst="rect">
            <a:avLst/>
          </a:prstGeom>
          <a:noFill/>
          <a:ln/>
        </p:spPr>
        <p:txBody>
          <a:bodyPr wrap="square" lIns="0" tIns="0" rIns="0" bIns="0" rtlCol="0" anchor="t"/>
          <a:lstStyle/>
          <a:p>
            <a:pPr indent="0" marL="0">
              <a:buNone/>
            </a:pPr>
            <a:r>
              <a:rPr lang="en-US" sz="2400" b="1" dirty="0">
                <a:solidFill>
                  <a:schemeClr val="tx1"/>
                </a:solidFill>
              </a:rPr>
              <a:t>AR lenses</a:t>
            </a:r>
            <a:endParaRPr lang="en-US" sz="2400" dirty="0"/>
          </a:p>
        </p:txBody>
      </p:sp>
      <p:sp>
        <p:nvSpPr>
          <p:cNvPr id="15" name="Text 10"/>
          <p:cNvSpPr txBox="1"/>
          <p:nvPr/>
        </p:nvSpPr>
        <p:spPr>
          <a:xfrm>
            <a:off x="8554517" y="3931920"/>
            <a:ext cx="2722778" cy="1737360"/>
          </a:xfrm>
          <a:prstGeom prst="rect">
            <a:avLst/>
          </a:prstGeom>
          <a:noFill/>
          <a:ln/>
        </p:spPr>
        <p:txBody>
          <a:bodyPr wrap="square" lIns="0" tIns="0" rIns="0" bIns="0" rtlCol="0" anchor="t"/>
          <a:lstStyle/>
          <a:p>
            <a:pPr indent="0" marL="0">
              <a:lnSpc>
                <a:spcPct val="115000"/>
              </a:lnSpc>
              <a:buNone/>
            </a:pPr>
            <a:r>
              <a:rPr lang="en-US" sz="1600" dirty="0">
                <a:solidFill>
                  <a:schemeClr val="tx2"/>
                </a:solidFill>
              </a:rPr>
              <a:t>478 facial landmarks define a face frame, so overlays follow position, size and tilt</a:t>
            </a:r>
            <a:endParaRPr lang="en-US" sz="16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1"/>
                </a:solidFill>
              </a:rPr>
              <a:t>ARCHITECTURE</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bg1"/>
                </a:solidFill>
              </a:rPr>
              <a:t>Three models run once; seven stages reuse their output</a:t>
            </a:r>
            <a:endParaRPr lang="en-US" sz="3400" dirty="0"/>
          </a:p>
        </p:txBody>
      </p:sp>
      <p:sp>
        <p:nvSpPr>
          <p:cNvPr id="4" name="Model BlazeFace, multi-scale"/>
          <p:cNvSpPr/>
          <p:nvPr/>
        </p:nvSpPr>
        <p:spPr>
          <a:xfrm>
            <a:off x="548640" y="1965960"/>
            <a:ext cx="3515258" cy="1051560"/>
          </a:xfrm>
          <a:prstGeom prst="roundRect">
            <a:avLst>
              <a:gd name="adj" fmla="val 10435"/>
            </a:avLst>
          </a:prstGeom>
          <a:solidFill>
            <a:schemeClr val="accent3"/>
          </a:solidFill>
          <a:ln w="9525">
            <a:solidFill>
              <a:srgbClr val="2F3A4D"/>
            </a:solidFill>
            <a:prstDash val="solid"/>
          </a:ln>
        </p:spPr>
      </p:sp>
      <p:sp>
        <p:nvSpPr>
          <p:cNvPr id="5" name="Text 3"/>
          <p:cNvSpPr txBox="1"/>
          <p:nvPr/>
        </p:nvSpPr>
        <p:spPr>
          <a:xfrm>
            <a:off x="822960" y="2103120"/>
            <a:ext cx="2966618" cy="411480"/>
          </a:xfrm>
          <a:prstGeom prst="rect">
            <a:avLst/>
          </a:prstGeom>
          <a:noFill/>
          <a:ln/>
        </p:spPr>
        <p:txBody>
          <a:bodyPr wrap="square" lIns="0" tIns="0" rIns="0" bIns="0" rtlCol="0" anchor="t"/>
          <a:lstStyle/>
          <a:p>
            <a:pPr indent="0" marL="0">
              <a:buNone/>
            </a:pPr>
            <a:r>
              <a:rPr lang="en-US" sz="2000" b="1" dirty="0">
                <a:solidFill>
                  <a:schemeClr val="bg1"/>
                </a:solidFill>
              </a:rPr>
              <a:t>BlazeFace, multi-scale</a:t>
            </a:r>
            <a:endParaRPr lang="en-US" sz="2000" dirty="0"/>
          </a:p>
        </p:txBody>
      </p:sp>
      <p:sp>
        <p:nvSpPr>
          <p:cNvPr id="6" name="Text 4"/>
          <p:cNvSpPr txBox="1"/>
          <p:nvPr/>
        </p:nvSpPr>
        <p:spPr>
          <a:xfrm>
            <a:off x="822960" y="2542032"/>
            <a:ext cx="2966618" cy="365760"/>
          </a:xfrm>
          <a:prstGeom prst="rect">
            <a:avLst/>
          </a:prstGeom>
          <a:noFill/>
          <a:ln/>
        </p:spPr>
        <p:txBody>
          <a:bodyPr wrap="square" lIns="0" tIns="0" rIns="0" bIns="0" rtlCol="0" anchor="t"/>
          <a:lstStyle/>
          <a:p>
            <a:pPr indent="0" marL="0">
              <a:buNone/>
            </a:pPr>
            <a:r>
              <a:rPr lang="en-US" sz="1500" dirty="0">
                <a:solidFill>
                  <a:schemeClr val="accent6"/>
                </a:solidFill>
              </a:rPr>
              <a:t>Face boxes + 6 keypoints</a:t>
            </a:r>
            <a:endParaRPr lang="en-US" sz="1500" dirty="0"/>
          </a:p>
        </p:txBody>
      </p:sp>
      <p:sp>
        <p:nvSpPr>
          <p:cNvPr id="7" name="Model FaceLandmarker"/>
          <p:cNvSpPr/>
          <p:nvPr/>
        </p:nvSpPr>
        <p:spPr>
          <a:xfrm>
            <a:off x="4338218" y="1965960"/>
            <a:ext cx="3515258" cy="1051560"/>
          </a:xfrm>
          <a:prstGeom prst="roundRect">
            <a:avLst>
              <a:gd name="adj" fmla="val 10435"/>
            </a:avLst>
          </a:prstGeom>
          <a:solidFill>
            <a:schemeClr val="accent3"/>
          </a:solidFill>
          <a:ln w="9525">
            <a:solidFill>
              <a:srgbClr val="2F3A4D"/>
            </a:solidFill>
            <a:prstDash val="solid"/>
          </a:ln>
        </p:spPr>
      </p:sp>
      <p:sp>
        <p:nvSpPr>
          <p:cNvPr id="8" name="Text 6"/>
          <p:cNvSpPr txBox="1"/>
          <p:nvPr/>
        </p:nvSpPr>
        <p:spPr>
          <a:xfrm>
            <a:off x="4612538" y="2103120"/>
            <a:ext cx="2966618" cy="411480"/>
          </a:xfrm>
          <a:prstGeom prst="rect">
            <a:avLst/>
          </a:prstGeom>
          <a:noFill/>
          <a:ln/>
        </p:spPr>
        <p:txBody>
          <a:bodyPr wrap="square" lIns="0" tIns="0" rIns="0" bIns="0" rtlCol="0" anchor="t"/>
          <a:lstStyle/>
          <a:p>
            <a:pPr indent="0" marL="0">
              <a:buNone/>
            </a:pPr>
            <a:r>
              <a:rPr lang="en-US" sz="2000" b="1" dirty="0">
                <a:solidFill>
                  <a:schemeClr val="bg1"/>
                </a:solidFill>
              </a:rPr>
              <a:t>FaceLandmarker</a:t>
            </a:r>
            <a:endParaRPr lang="en-US" sz="2000" dirty="0"/>
          </a:p>
        </p:txBody>
      </p:sp>
      <p:sp>
        <p:nvSpPr>
          <p:cNvPr id="9" name="Text 7"/>
          <p:cNvSpPr txBox="1"/>
          <p:nvPr/>
        </p:nvSpPr>
        <p:spPr>
          <a:xfrm>
            <a:off x="4612538" y="2542032"/>
            <a:ext cx="2966618" cy="365760"/>
          </a:xfrm>
          <a:prstGeom prst="rect">
            <a:avLst/>
          </a:prstGeom>
          <a:noFill/>
          <a:ln/>
        </p:spPr>
        <p:txBody>
          <a:bodyPr wrap="square" lIns="0" tIns="0" rIns="0" bIns="0" rtlCol="0" anchor="t"/>
          <a:lstStyle/>
          <a:p>
            <a:pPr indent="0" marL="0">
              <a:buNone/>
            </a:pPr>
            <a:r>
              <a:rPr lang="en-US" sz="1500" dirty="0">
                <a:solidFill>
                  <a:schemeClr val="accent6"/>
                </a:solidFill>
              </a:rPr>
              <a:t>478 3-D landmarks per face</a:t>
            </a:r>
            <a:endParaRPr lang="en-US" sz="1500" dirty="0"/>
          </a:p>
        </p:txBody>
      </p:sp>
      <p:sp>
        <p:nvSpPr>
          <p:cNvPr id="10" name="Model Selfie segmenter"/>
          <p:cNvSpPr/>
          <p:nvPr/>
        </p:nvSpPr>
        <p:spPr>
          <a:xfrm>
            <a:off x="8127797" y="1965960"/>
            <a:ext cx="3515258" cy="1051560"/>
          </a:xfrm>
          <a:prstGeom prst="roundRect">
            <a:avLst>
              <a:gd name="adj" fmla="val 10435"/>
            </a:avLst>
          </a:prstGeom>
          <a:solidFill>
            <a:schemeClr val="accent3"/>
          </a:solidFill>
          <a:ln w="9525">
            <a:solidFill>
              <a:srgbClr val="2F3A4D"/>
            </a:solidFill>
            <a:prstDash val="solid"/>
          </a:ln>
        </p:spPr>
      </p:sp>
      <p:sp>
        <p:nvSpPr>
          <p:cNvPr id="11" name="Text 9"/>
          <p:cNvSpPr txBox="1"/>
          <p:nvPr/>
        </p:nvSpPr>
        <p:spPr>
          <a:xfrm>
            <a:off x="8402117" y="2103120"/>
            <a:ext cx="2966618" cy="411480"/>
          </a:xfrm>
          <a:prstGeom prst="rect">
            <a:avLst/>
          </a:prstGeom>
          <a:noFill/>
          <a:ln/>
        </p:spPr>
        <p:txBody>
          <a:bodyPr wrap="square" lIns="0" tIns="0" rIns="0" bIns="0" rtlCol="0" anchor="t"/>
          <a:lstStyle/>
          <a:p>
            <a:pPr indent="0" marL="0">
              <a:buNone/>
            </a:pPr>
            <a:r>
              <a:rPr lang="en-US" sz="2000" b="1" dirty="0">
                <a:solidFill>
                  <a:schemeClr val="bg1"/>
                </a:solidFill>
              </a:rPr>
              <a:t>Selfie segmenter</a:t>
            </a:r>
            <a:endParaRPr lang="en-US" sz="2000" dirty="0"/>
          </a:p>
        </p:txBody>
      </p:sp>
      <p:sp>
        <p:nvSpPr>
          <p:cNvPr id="12" name="Text 10"/>
          <p:cNvSpPr txBox="1"/>
          <p:nvPr/>
        </p:nvSpPr>
        <p:spPr>
          <a:xfrm>
            <a:off x="8402117" y="2542032"/>
            <a:ext cx="2966618" cy="365760"/>
          </a:xfrm>
          <a:prstGeom prst="rect">
            <a:avLst/>
          </a:prstGeom>
          <a:noFill/>
          <a:ln/>
        </p:spPr>
        <p:txBody>
          <a:bodyPr wrap="square" lIns="0" tIns="0" rIns="0" bIns="0" rtlCol="0" anchor="t"/>
          <a:lstStyle/>
          <a:p>
            <a:pPr indent="0" marL="0">
              <a:buNone/>
            </a:pPr>
            <a:r>
              <a:rPr lang="en-US" sz="1500" dirty="0">
                <a:solidFill>
                  <a:schemeClr val="accent6"/>
                </a:solidFill>
              </a:rPr>
              <a:t>Per-pixel person mask</a:t>
            </a:r>
            <a:endParaRPr lang="en-US" sz="1500" dirty="0"/>
          </a:p>
        </p:txBody>
      </p:sp>
      <p:sp>
        <p:nvSpPr>
          <p:cNvPr id="13" name="Text 11"/>
          <p:cNvSpPr txBox="1"/>
          <p:nvPr/>
        </p:nvSpPr>
        <p:spPr>
          <a:xfrm>
            <a:off x="548640" y="3200400"/>
            <a:ext cx="11094415" cy="365760"/>
          </a:xfrm>
          <a:prstGeom prst="rect">
            <a:avLst/>
          </a:prstGeom>
          <a:noFill/>
          <a:ln/>
        </p:spPr>
        <p:txBody>
          <a:bodyPr wrap="square" lIns="0" tIns="0" rIns="0" bIns="0" rtlCol="0" anchor="t"/>
          <a:lstStyle/>
          <a:p>
            <a:pPr indent="0" marL="0">
              <a:buNone/>
            </a:pPr>
            <a:r>
              <a:rPr lang="en-US" sz="1500" i="1" dirty="0">
                <a:solidFill>
                  <a:schemeClr val="accent6"/>
                </a:solidFill>
              </a:rPr>
              <a:t>Computed once per image and cached, so moving a slider re-runs only the cheap stages</a:t>
            </a:r>
            <a:endParaRPr lang="en-US" sz="1500" dirty="0"/>
          </a:p>
        </p:txBody>
      </p:sp>
      <p:sp>
        <p:nvSpPr>
          <p:cNvPr id="14" name="Stage 1"/>
          <p:cNvSpPr/>
          <p:nvPr/>
        </p:nvSpPr>
        <p:spPr>
          <a:xfrm>
            <a:off x="548640" y="3794760"/>
            <a:ext cx="1365460" cy="1051560"/>
          </a:xfrm>
          <a:prstGeom prst="roundRect">
            <a:avLst>
              <a:gd name="adj" fmla="val 10435"/>
            </a:avLst>
          </a:prstGeom>
          <a:solidFill>
            <a:schemeClr val="accent1">
              <a:alpha val="15000"/>
            </a:schemeClr>
          </a:solidFill>
          <a:ln w="19050">
            <a:solidFill>
              <a:schemeClr val="accent1"/>
            </a:solidFill>
            <a:prstDash val="solid"/>
          </a:ln>
        </p:spPr>
      </p:sp>
      <p:sp>
        <p:nvSpPr>
          <p:cNvPr id="15" name="Text 13"/>
          <p:cNvSpPr txBox="1"/>
          <p:nvPr/>
        </p:nvSpPr>
        <p:spPr>
          <a:xfrm>
            <a:off x="685800" y="3904488"/>
            <a:ext cx="1091140" cy="320040"/>
          </a:xfrm>
          <a:prstGeom prst="rect">
            <a:avLst/>
          </a:prstGeom>
          <a:noFill/>
          <a:ln/>
        </p:spPr>
        <p:txBody>
          <a:bodyPr wrap="square" lIns="0" tIns="0" rIns="0" bIns="0" rtlCol="0" anchor="t"/>
          <a:lstStyle/>
          <a:p>
            <a:pPr indent="0" marL="0">
              <a:buNone/>
            </a:pPr>
            <a:r>
              <a:rPr lang="en-US" sz="1400" b="1" dirty="0">
                <a:solidFill>
                  <a:schemeClr val="accent1"/>
                </a:solidFill>
              </a:rPr>
              <a:t>1</a:t>
            </a:r>
            <a:endParaRPr lang="en-US" sz="1400" dirty="0"/>
          </a:p>
        </p:txBody>
      </p:sp>
      <p:sp>
        <p:nvSpPr>
          <p:cNvPr id="16" name="Text 14"/>
          <p:cNvSpPr txBox="1"/>
          <p:nvPr/>
        </p:nvSpPr>
        <p:spPr>
          <a:xfrm>
            <a:off x="685800" y="4251960"/>
            <a:ext cx="1091140" cy="457200"/>
          </a:xfrm>
          <a:prstGeom prst="rect">
            <a:avLst/>
          </a:prstGeom>
          <a:noFill/>
          <a:ln/>
        </p:spPr>
        <p:txBody>
          <a:bodyPr wrap="square" lIns="0" tIns="0" rIns="0" bIns="0" rtlCol="0" anchor="t"/>
          <a:lstStyle/>
          <a:p>
            <a:pPr indent="0" marL="0">
              <a:buNone/>
            </a:pPr>
            <a:r>
              <a:rPr lang="en-US" sz="1500" b="1" dirty="0">
                <a:solidFill>
                  <a:schemeClr val="bg1"/>
                </a:solidFill>
              </a:rPr>
              <a:t>Enhance</a:t>
            </a:r>
            <a:endParaRPr lang="en-US" sz="1500" dirty="0"/>
          </a:p>
        </p:txBody>
      </p:sp>
      <p:sp>
        <p:nvSpPr>
          <p:cNvPr id="17" name="Arrow 1"/>
          <p:cNvSpPr/>
          <p:nvPr/>
        </p:nvSpPr>
        <p:spPr>
          <a:xfrm rot="5400000">
            <a:off x="1978108" y="4242816"/>
            <a:ext cx="128016" cy="155448"/>
          </a:xfrm>
          <a:prstGeom prst="triangle">
            <a:avLst/>
          </a:prstGeom>
          <a:solidFill>
            <a:schemeClr val="accent6"/>
          </a:solidFill>
          <a:ln/>
        </p:spPr>
      </p:sp>
      <p:sp>
        <p:nvSpPr>
          <p:cNvPr id="18" name="Stage 2"/>
          <p:cNvSpPr/>
          <p:nvPr/>
        </p:nvSpPr>
        <p:spPr>
          <a:xfrm>
            <a:off x="2170132" y="3794760"/>
            <a:ext cx="1365460" cy="1051560"/>
          </a:xfrm>
          <a:prstGeom prst="roundRect">
            <a:avLst>
              <a:gd name="adj" fmla="val 10435"/>
            </a:avLst>
          </a:prstGeom>
          <a:solidFill>
            <a:schemeClr val="accent1">
              <a:alpha val="15000"/>
            </a:schemeClr>
          </a:solidFill>
          <a:ln w="19050">
            <a:solidFill>
              <a:schemeClr val="accent1"/>
            </a:solidFill>
            <a:prstDash val="solid"/>
          </a:ln>
        </p:spPr>
      </p:sp>
      <p:sp>
        <p:nvSpPr>
          <p:cNvPr id="19" name="Text 17"/>
          <p:cNvSpPr txBox="1"/>
          <p:nvPr/>
        </p:nvSpPr>
        <p:spPr>
          <a:xfrm>
            <a:off x="2307292" y="3904488"/>
            <a:ext cx="1091140" cy="320040"/>
          </a:xfrm>
          <a:prstGeom prst="rect">
            <a:avLst/>
          </a:prstGeom>
          <a:noFill/>
          <a:ln/>
        </p:spPr>
        <p:txBody>
          <a:bodyPr wrap="square" lIns="0" tIns="0" rIns="0" bIns="0" rtlCol="0" anchor="t"/>
          <a:lstStyle/>
          <a:p>
            <a:pPr indent="0" marL="0">
              <a:buNone/>
            </a:pPr>
            <a:r>
              <a:rPr lang="en-US" sz="1400" b="1" dirty="0">
                <a:solidFill>
                  <a:schemeClr val="accent1"/>
                </a:solidFill>
              </a:rPr>
              <a:t>2</a:t>
            </a:r>
            <a:endParaRPr lang="en-US" sz="1400" dirty="0"/>
          </a:p>
        </p:txBody>
      </p:sp>
      <p:sp>
        <p:nvSpPr>
          <p:cNvPr id="20" name="Text 18"/>
          <p:cNvSpPr txBox="1"/>
          <p:nvPr/>
        </p:nvSpPr>
        <p:spPr>
          <a:xfrm>
            <a:off x="2307292" y="4251960"/>
            <a:ext cx="1091140" cy="457200"/>
          </a:xfrm>
          <a:prstGeom prst="rect">
            <a:avLst/>
          </a:prstGeom>
          <a:noFill/>
          <a:ln/>
        </p:spPr>
        <p:txBody>
          <a:bodyPr wrap="square" lIns="0" tIns="0" rIns="0" bIns="0" rtlCol="0" anchor="t"/>
          <a:lstStyle/>
          <a:p>
            <a:pPr indent="0" marL="0">
              <a:buNone/>
            </a:pPr>
            <a:r>
              <a:rPr lang="en-US" sz="1500" b="1" dirty="0">
                <a:solidFill>
                  <a:schemeClr val="bg1"/>
                </a:solidFill>
              </a:rPr>
              <a:t>Beauty</a:t>
            </a:r>
            <a:endParaRPr lang="en-US" sz="1500" dirty="0"/>
          </a:p>
        </p:txBody>
      </p:sp>
      <p:sp>
        <p:nvSpPr>
          <p:cNvPr id="21" name="Arrow 2"/>
          <p:cNvSpPr/>
          <p:nvPr/>
        </p:nvSpPr>
        <p:spPr>
          <a:xfrm rot="5400000">
            <a:off x="3599601" y="4242816"/>
            <a:ext cx="128016" cy="155448"/>
          </a:xfrm>
          <a:prstGeom prst="triangle">
            <a:avLst/>
          </a:prstGeom>
          <a:solidFill>
            <a:schemeClr val="accent6"/>
          </a:solidFill>
          <a:ln/>
        </p:spPr>
      </p:sp>
      <p:sp>
        <p:nvSpPr>
          <p:cNvPr id="22" name="Stage 3"/>
          <p:cNvSpPr/>
          <p:nvPr/>
        </p:nvSpPr>
        <p:spPr>
          <a:xfrm>
            <a:off x="3791625" y="3794760"/>
            <a:ext cx="1365460" cy="1051560"/>
          </a:xfrm>
          <a:prstGeom prst="roundRect">
            <a:avLst>
              <a:gd name="adj" fmla="val 10435"/>
            </a:avLst>
          </a:prstGeom>
          <a:solidFill>
            <a:schemeClr val="accent1">
              <a:alpha val="15000"/>
            </a:schemeClr>
          </a:solidFill>
          <a:ln w="19050">
            <a:solidFill>
              <a:schemeClr val="accent1"/>
            </a:solidFill>
            <a:prstDash val="solid"/>
          </a:ln>
        </p:spPr>
      </p:sp>
      <p:sp>
        <p:nvSpPr>
          <p:cNvPr id="23" name="Text 21"/>
          <p:cNvSpPr txBox="1"/>
          <p:nvPr/>
        </p:nvSpPr>
        <p:spPr>
          <a:xfrm>
            <a:off x="3928785" y="3904488"/>
            <a:ext cx="1091140" cy="320040"/>
          </a:xfrm>
          <a:prstGeom prst="rect">
            <a:avLst/>
          </a:prstGeom>
          <a:noFill/>
          <a:ln/>
        </p:spPr>
        <p:txBody>
          <a:bodyPr wrap="square" lIns="0" tIns="0" rIns="0" bIns="0" rtlCol="0" anchor="t"/>
          <a:lstStyle/>
          <a:p>
            <a:pPr indent="0" marL="0">
              <a:buNone/>
            </a:pPr>
            <a:r>
              <a:rPr lang="en-US" sz="1400" b="1" dirty="0">
                <a:solidFill>
                  <a:schemeClr val="accent1"/>
                </a:solidFill>
              </a:rPr>
              <a:t>3</a:t>
            </a:r>
            <a:endParaRPr lang="en-US" sz="1400" dirty="0"/>
          </a:p>
        </p:txBody>
      </p:sp>
      <p:sp>
        <p:nvSpPr>
          <p:cNvPr id="24" name="Text 22"/>
          <p:cNvSpPr txBox="1"/>
          <p:nvPr/>
        </p:nvSpPr>
        <p:spPr>
          <a:xfrm>
            <a:off x="3928785" y="4251960"/>
            <a:ext cx="1091140" cy="457200"/>
          </a:xfrm>
          <a:prstGeom prst="rect">
            <a:avLst/>
          </a:prstGeom>
          <a:noFill/>
          <a:ln/>
        </p:spPr>
        <p:txBody>
          <a:bodyPr wrap="square" lIns="0" tIns="0" rIns="0" bIns="0" rtlCol="0" anchor="t"/>
          <a:lstStyle/>
          <a:p>
            <a:pPr indent="0" marL="0">
              <a:buNone/>
            </a:pPr>
            <a:r>
              <a:rPr lang="en-US" sz="1500" b="1" dirty="0">
                <a:solidFill>
                  <a:schemeClr val="bg1"/>
                </a:solidFill>
              </a:rPr>
              <a:t>Background</a:t>
            </a:r>
            <a:endParaRPr lang="en-US" sz="1500" dirty="0"/>
          </a:p>
        </p:txBody>
      </p:sp>
      <p:sp>
        <p:nvSpPr>
          <p:cNvPr id="25" name="Arrow 3"/>
          <p:cNvSpPr/>
          <p:nvPr/>
        </p:nvSpPr>
        <p:spPr>
          <a:xfrm rot="5400000">
            <a:off x="5221093" y="4242816"/>
            <a:ext cx="128016" cy="155448"/>
          </a:xfrm>
          <a:prstGeom prst="triangle">
            <a:avLst/>
          </a:prstGeom>
          <a:solidFill>
            <a:schemeClr val="accent6"/>
          </a:solidFill>
          <a:ln/>
        </p:spPr>
      </p:sp>
      <p:sp>
        <p:nvSpPr>
          <p:cNvPr id="26" name="Stage 4"/>
          <p:cNvSpPr/>
          <p:nvPr/>
        </p:nvSpPr>
        <p:spPr>
          <a:xfrm>
            <a:off x="5413117" y="3794760"/>
            <a:ext cx="1365460" cy="1051560"/>
          </a:xfrm>
          <a:prstGeom prst="roundRect">
            <a:avLst>
              <a:gd name="adj" fmla="val 10435"/>
            </a:avLst>
          </a:prstGeom>
          <a:solidFill>
            <a:schemeClr val="accent1">
              <a:alpha val="15000"/>
            </a:schemeClr>
          </a:solidFill>
          <a:ln w="19050">
            <a:solidFill>
              <a:schemeClr val="accent1"/>
            </a:solidFill>
            <a:prstDash val="solid"/>
          </a:ln>
        </p:spPr>
      </p:sp>
      <p:sp>
        <p:nvSpPr>
          <p:cNvPr id="27" name="Text 25"/>
          <p:cNvSpPr txBox="1"/>
          <p:nvPr/>
        </p:nvSpPr>
        <p:spPr>
          <a:xfrm>
            <a:off x="5550277" y="3904488"/>
            <a:ext cx="1091140" cy="320040"/>
          </a:xfrm>
          <a:prstGeom prst="rect">
            <a:avLst/>
          </a:prstGeom>
          <a:noFill/>
          <a:ln/>
        </p:spPr>
        <p:txBody>
          <a:bodyPr wrap="square" lIns="0" tIns="0" rIns="0" bIns="0" rtlCol="0" anchor="t"/>
          <a:lstStyle/>
          <a:p>
            <a:pPr indent="0" marL="0">
              <a:buNone/>
            </a:pPr>
            <a:r>
              <a:rPr lang="en-US" sz="1400" b="1" dirty="0">
                <a:solidFill>
                  <a:schemeClr val="accent1"/>
                </a:solidFill>
              </a:rPr>
              <a:t>4</a:t>
            </a:r>
            <a:endParaRPr lang="en-US" sz="1400" dirty="0"/>
          </a:p>
        </p:txBody>
      </p:sp>
      <p:sp>
        <p:nvSpPr>
          <p:cNvPr id="28" name="Text 26"/>
          <p:cNvSpPr txBox="1"/>
          <p:nvPr/>
        </p:nvSpPr>
        <p:spPr>
          <a:xfrm>
            <a:off x="5550277" y="4251960"/>
            <a:ext cx="1091140" cy="457200"/>
          </a:xfrm>
          <a:prstGeom prst="rect">
            <a:avLst/>
          </a:prstGeom>
          <a:noFill/>
          <a:ln/>
        </p:spPr>
        <p:txBody>
          <a:bodyPr wrap="square" lIns="0" tIns="0" rIns="0" bIns="0" rtlCol="0" anchor="t"/>
          <a:lstStyle/>
          <a:p>
            <a:pPr indent="0" marL="0">
              <a:buNone/>
            </a:pPr>
            <a:r>
              <a:rPr lang="en-US" sz="1500" b="1" dirty="0">
                <a:solidFill>
                  <a:schemeClr val="bg1"/>
                </a:solidFill>
              </a:rPr>
              <a:t>Style</a:t>
            </a:r>
            <a:endParaRPr lang="en-US" sz="1500" dirty="0"/>
          </a:p>
        </p:txBody>
      </p:sp>
      <p:sp>
        <p:nvSpPr>
          <p:cNvPr id="29" name="Arrow 4"/>
          <p:cNvSpPr/>
          <p:nvPr/>
        </p:nvSpPr>
        <p:spPr>
          <a:xfrm rot="5400000">
            <a:off x="6842586" y="4242816"/>
            <a:ext cx="128016" cy="155448"/>
          </a:xfrm>
          <a:prstGeom prst="triangle">
            <a:avLst/>
          </a:prstGeom>
          <a:solidFill>
            <a:schemeClr val="accent6"/>
          </a:solidFill>
          <a:ln/>
        </p:spPr>
      </p:sp>
      <p:sp>
        <p:nvSpPr>
          <p:cNvPr id="30" name="Stage 5"/>
          <p:cNvSpPr/>
          <p:nvPr/>
        </p:nvSpPr>
        <p:spPr>
          <a:xfrm>
            <a:off x="7034610" y="3794760"/>
            <a:ext cx="1365460" cy="1051560"/>
          </a:xfrm>
          <a:prstGeom prst="roundRect">
            <a:avLst>
              <a:gd name="adj" fmla="val 10435"/>
            </a:avLst>
          </a:prstGeom>
          <a:solidFill>
            <a:schemeClr val="accent1">
              <a:alpha val="15000"/>
            </a:schemeClr>
          </a:solidFill>
          <a:ln w="19050">
            <a:solidFill>
              <a:schemeClr val="accent1"/>
            </a:solidFill>
            <a:prstDash val="solid"/>
          </a:ln>
        </p:spPr>
      </p:sp>
      <p:sp>
        <p:nvSpPr>
          <p:cNvPr id="31" name="Text 29"/>
          <p:cNvSpPr txBox="1"/>
          <p:nvPr/>
        </p:nvSpPr>
        <p:spPr>
          <a:xfrm>
            <a:off x="7171770" y="3904488"/>
            <a:ext cx="1091140" cy="320040"/>
          </a:xfrm>
          <a:prstGeom prst="rect">
            <a:avLst/>
          </a:prstGeom>
          <a:noFill/>
          <a:ln/>
        </p:spPr>
        <p:txBody>
          <a:bodyPr wrap="square" lIns="0" tIns="0" rIns="0" bIns="0" rtlCol="0" anchor="t"/>
          <a:lstStyle/>
          <a:p>
            <a:pPr indent="0" marL="0">
              <a:buNone/>
            </a:pPr>
            <a:r>
              <a:rPr lang="en-US" sz="1400" b="1" dirty="0">
                <a:solidFill>
                  <a:schemeClr val="accent1"/>
                </a:solidFill>
              </a:rPr>
              <a:t>5</a:t>
            </a:r>
            <a:endParaRPr lang="en-US" sz="1400" dirty="0"/>
          </a:p>
        </p:txBody>
      </p:sp>
      <p:sp>
        <p:nvSpPr>
          <p:cNvPr id="32" name="Text 30"/>
          <p:cNvSpPr txBox="1"/>
          <p:nvPr/>
        </p:nvSpPr>
        <p:spPr>
          <a:xfrm>
            <a:off x="7171770" y="4251960"/>
            <a:ext cx="1091140" cy="457200"/>
          </a:xfrm>
          <a:prstGeom prst="rect">
            <a:avLst/>
          </a:prstGeom>
          <a:noFill/>
          <a:ln/>
        </p:spPr>
        <p:txBody>
          <a:bodyPr wrap="square" lIns="0" tIns="0" rIns="0" bIns="0" rtlCol="0" anchor="t"/>
          <a:lstStyle/>
          <a:p>
            <a:pPr indent="0" marL="0">
              <a:buNone/>
            </a:pPr>
            <a:r>
              <a:rPr lang="en-US" sz="1500" b="1" dirty="0">
                <a:solidFill>
                  <a:schemeClr val="bg1"/>
                </a:solidFill>
              </a:rPr>
              <a:t>Finishing</a:t>
            </a:r>
            <a:endParaRPr lang="en-US" sz="1500" dirty="0"/>
          </a:p>
        </p:txBody>
      </p:sp>
      <p:sp>
        <p:nvSpPr>
          <p:cNvPr id="33" name="Arrow 5"/>
          <p:cNvSpPr/>
          <p:nvPr/>
        </p:nvSpPr>
        <p:spPr>
          <a:xfrm rot="5400000">
            <a:off x="8464078" y="4242816"/>
            <a:ext cx="128016" cy="155448"/>
          </a:xfrm>
          <a:prstGeom prst="triangle">
            <a:avLst/>
          </a:prstGeom>
          <a:solidFill>
            <a:schemeClr val="accent6"/>
          </a:solidFill>
          <a:ln/>
        </p:spPr>
      </p:sp>
      <p:sp>
        <p:nvSpPr>
          <p:cNvPr id="34" name="Stage 6"/>
          <p:cNvSpPr/>
          <p:nvPr/>
        </p:nvSpPr>
        <p:spPr>
          <a:xfrm>
            <a:off x="8656102" y="3794760"/>
            <a:ext cx="1365460" cy="1051560"/>
          </a:xfrm>
          <a:prstGeom prst="roundRect">
            <a:avLst>
              <a:gd name="adj" fmla="val 10435"/>
            </a:avLst>
          </a:prstGeom>
          <a:solidFill>
            <a:schemeClr val="accent1">
              <a:alpha val="15000"/>
            </a:schemeClr>
          </a:solidFill>
          <a:ln w="19050">
            <a:solidFill>
              <a:schemeClr val="accent1"/>
            </a:solidFill>
            <a:prstDash val="solid"/>
          </a:ln>
        </p:spPr>
      </p:sp>
      <p:sp>
        <p:nvSpPr>
          <p:cNvPr id="35" name="Text 33"/>
          <p:cNvSpPr txBox="1"/>
          <p:nvPr/>
        </p:nvSpPr>
        <p:spPr>
          <a:xfrm>
            <a:off x="8793262" y="3904488"/>
            <a:ext cx="1091140" cy="320040"/>
          </a:xfrm>
          <a:prstGeom prst="rect">
            <a:avLst/>
          </a:prstGeom>
          <a:noFill/>
          <a:ln/>
        </p:spPr>
        <p:txBody>
          <a:bodyPr wrap="square" lIns="0" tIns="0" rIns="0" bIns="0" rtlCol="0" anchor="t"/>
          <a:lstStyle/>
          <a:p>
            <a:pPr indent="0" marL="0">
              <a:buNone/>
            </a:pPr>
            <a:r>
              <a:rPr lang="en-US" sz="1400" b="1" dirty="0">
                <a:solidFill>
                  <a:schemeClr val="accent1"/>
                </a:solidFill>
              </a:rPr>
              <a:t>6</a:t>
            </a:r>
            <a:endParaRPr lang="en-US" sz="1400" dirty="0"/>
          </a:p>
        </p:txBody>
      </p:sp>
      <p:sp>
        <p:nvSpPr>
          <p:cNvPr id="36" name="Text 34"/>
          <p:cNvSpPr txBox="1"/>
          <p:nvPr/>
        </p:nvSpPr>
        <p:spPr>
          <a:xfrm>
            <a:off x="8793262" y="4251960"/>
            <a:ext cx="1091140" cy="457200"/>
          </a:xfrm>
          <a:prstGeom prst="rect">
            <a:avLst/>
          </a:prstGeom>
          <a:noFill/>
          <a:ln/>
        </p:spPr>
        <p:txBody>
          <a:bodyPr wrap="square" lIns="0" tIns="0" rIns="0" bIns="0" rtlCol="0" anchor="t"/>
          <a:lstStyle/>
          <a:p>
            <a:pPr indent="0" marL="0">
              <a:buNone/>
            </a:pPr>
            <a:r>
              <a:rPr lang="en-US" sz="1500" b="1" dirty="0">
                <a:solidFill>
                  <a:schemeClr val="bg1"/>
                </a:solidFill>
              </a:rPr>
              <a:t>AR overlay</a:t>
            </a:r>
            <a:endParaRPr lang="en-US" sz="1500" dirty="0"/>
          </a:p>
        </p:txBody>
      </p:sp>
      <p:sp>
        <p:nvSpPr>
          <p:cNvPr id="37" name="Arrow 6"/>
          <p:cNvSpPr/>
          <p:nvPr/>
        </p:nvSpPr>
        <p:spPr>
          <a:xfrm rot="5400000">
            <a:off x="10085571" y="4242816"/>
            <a:ext cx="128016" cy="155448"/>
          </a:xfrm>
          <a:prstGeom prst="triangle">
            <a:avLst/>
          </a:prstGeom>
          <a:solidFill>
            <a:schemeClr val="accent6"/>
          </a:solidFill>
          <a:ln/>
        </p:spPr>
      </p:sp>
      <p:sp>
        <p:nvSpPr>
          <p:cNvPr id="38" name="Stage 7"/>
          <p:cNvSpPr/>
          <p:nvPr/>
        </p:nvSpPr>
        <p:spPr>
          <a:xfrm>
            <a:off x="10277595" y="3794760"/>
            <a:ext cx="1365460" cy="1051560"/>
          </a:xfrm>
          <a:prstGeom prst="roundRect">
            <a:avLst>
              <a:gd name="adj" fmla="val 10435"/>
            </a:avLst>
          </a:prstGeom>
          <a:solidFill>
            <a:schemeClr val="accent1">
              <a:alpha val="15000"/>
            </a:schemeClr>
          </a:solidFill>
          <a:ln w="19050">
            <a:solidFill>
              <a:schemeClr val="accent1"/>
            </a:solidFill>
            <a:prstDash val="solid"/>
          </a:ln>
        </p:spPr>
      </p:sp>
      <p:sp>
        <p:nvSpPr>
          <p:cNvPr id="39" name="Text 37"/>
          <p:cNvSpPr txBox="1"/>
          <p:nvPr/>
        </p:nvSpPr>
        <p:spPr>
          <a:xfrm>
            <a:off x="10414755" y="3904488"/>
            <a:ext cx="1091140" cy="320040"/>
          </a:xfrm>
          <a:prstGeom prst="rect">
            <a:avLst/>
          </a:prstGeom>
          <a:noFill/>
          <a:ln/>
        </p:spPr>
        <p:txBody>
          <a:bodyPr wrap="square" lIns="0" tIns="0" rIns="0" bIns="0" rtlCol="0" anchor="t"/>
          <a:lstStyle/>
          <a:p>
            <a:pPr indent="0" marL="0">
              <a:buNone/>
            </a:pPr>
            <a:r>
              <a:rPr lang="en-US" sz="1400" b="1" dirty="0">
                <a:solidFill>
                  <a:schemeClr val="accent1"/>
                </a:solidFill>
              </a:rPr>
              <a:t>7</a:t>
            </a:r>
            <a:endParaRPr lang="en-US" sz="1400" dirty="0"/>
          </a:p>
        </p:txBody>
      </p:sp>
      <p:sp>
        <p:nvSpPr>
          <p:cNvPr id="40" name="Text 38"/>
          <p:cNvSpPr txBox="1"/>
          <p:nvPr/>
        </p:nvSpPr>
        <p:spPr>
          <a:xfrm>
            <a:off x="10414755" y="4251960"/>
            <a:ext cx="1091140" cy="457200"/>
          </a:xfrm>
          <a:prstGeom prst="rect">
            <a:avLst/>
          </a:prstGeom>
          <a:noFill/>
          <a:ln/>
        </p:spPr>
        <p:txBody>
          <a:bodyPr wrap="square" lIns="0" tIns="0" rIns="0" bIns="0" rtlCol="0" anchor="t"/>
          <a:lstStyle/>
          <a:p>
            <a:pPr indent="0" marL="0">
              <a:buNone/>
            </a:pPr>
            <a:r>
              <a:rPr lang="en-US" sz="1500" b="1" dirty="0">
                <a:solidFill>
                  <a:schemeClr val="bg1"/>
                </a:solidFill>
              </a:rPr>
              <a:t>Privacy</a:t>
            </a:r>
            <a:endParaRPr lang="en-US" sz="1500" dirty="0"/>
          </a:p>
        </p:txBody>
      </p:sp>
      <p:sp>
        <p:nvSpPr>
          <p:cNvPr id="41" name="Text 39"/>
          <p:cNvSpPr txBox="1"/>
          <p:nvPr/>
        </p:nvSpPr>
        <p:spPr>
          <a:xfrm>
            <a:off x="548640" y="5166360"/>
            <a:ext cx="11094415" cy="457200"/>
          </a:xfrm>
          <a:prstGeom prst="rect">
            <a:avLst/>
          </a:prstGeom>
          <a:noFill/>
          <a:ln/>
        </p:spPr>
        <p:txBody>
          <a:bodyPr wrap="square" lIns="0" tIns="0" rIns="0" bIns="0" rtlCol="0" anchor="t"/>
          <a:lstStyle/>
          <a:p>
            <a:pPr indent="0" marL="0">
              <a:buNone/>
            </a:pPr>
            <a:r>
              <a:rPr lang="en-US" sz="1600" dirty="0">
                <a:solidFill>
                  <a:schemeClr val="accent6"/>
                </a:solidFill>
              </a:rPr>
              <a:t>Output: PNG / JPEG, batch ZIP or live video, with PSNR, SSIM, histograms and per-stage timing</a:t>
            </a:r>
            <a:endParaRPr lang="en-US" sz="16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2"/>
                </a:solidFill>
              </a:rPr>
              <a:t>STUDIO · ANMOL</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tx1"/>
                </a:solidFill>
              </a:rPr>
              <a:t>Stackable edits with a before/after slider</a:t>
            </a:r>
            <a:endParaRPr lang="en-US" sz="3400" dirty="0"/>
          </a:p>
        </p:txBody>
      </p:sp>
      <p:sp>
        <p:nvSpPr>
          <p:cNvPr id="4" name="Text 2"/>
          <p:cNvSpPr txBox="1"/>
          <p:nvPr/>
        </p:nvSpPr>
        <p:spPr>
          <a:xfrm>
            <a:off x="548640" y="2103120"/>
            <a:ext cx="4480560" cy="384048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2"/>
                </a:solidFill>
              </a:rPr>
              <a:t>Brightness (HSV V), contrast, gamma LUT, unsharp mask, warmth</a:t>
            </a:r>
            <a:endParaRPr lang="en-US" sz="1800" dirty="0"/>
          </a:p>
          <a:p>
            <a:pPr marL="342900" indent="-342900">
              <a:spcAft>
                <a:spcPts val="1200"/>
              </a:spcAft>
              <a:buSzPct val="100000"/>
              <a:buChar char="•"/>
            </a:pPr>
            <a:r>
              <a:rPr lang="en-US" sz="1800" dirty="0">
                <a:solidFill>
                  <a:schemeClr val="tx2"/>
                </a:solidFill>
              </a:rPr>
              <a:t>One-click CLAHE auto-enhance on the L channel of LAB</a:t>
            </a:r>
            <a:endParaRPr lang="en-US" sz="1800" dirty="0"/>
          </a:p>
          <a:p>
            <a:pPr marL="342900" indent="-342900">
              <a:spcAft>
                <a:spcPts val="1200"/>
              </a:spcAft>
              <a:buSzPct val="100000"/>
              <a:buChar char="•"/>
            </a:pPr>
            <a:r>
              <a:rPr lang="en-US" sz="1800" dirty="0">
                <a:solidFill>
                  <a:schemeClr val="tx2"/>
                </a:solidFill>
              </a:rPr>
              <a:t>7 presets and Reset drive every slider</a:t>
            </a:r>
            <a:endParaRPr lang="en-US" sz="1800" dirty="0"/>
          </a:p>
          <a:p>
            <a:pPr marL="342900" indent="-342900">
              <a:spcAft>
                <a:spcPts val="1200"/>
              </a:spcAft>
              <a:buSzPct val="100000"/>
              <a:buChar char="•"/>
            </a:pPr>
            <a:r>
              <a:rPr lang="en-US" sz="1800" dirty="0">
                <a:solidFill>
                  <a:schemeClr val="tx2"/>
                </a:solidFill>
              </a:rPr>
              <a:t>Metrics panel: PSNR, SSIM, histograms, timing</a:t>
            </a:r>
            <a:endParaRPr lang="en-US" sz="1800" dirty="0"/>
          </a:p>
        </p:txBody>
      </p:sp>
      <p:sp>
        <p:nvSpPr>
          <p:cNvPr id="5" name="Screenshot frame"/>
          <p:cNvSpPr/>
          <p:nvPr/>
        </p:nvSpPr>
        <p:spPr>
          <a:xfrm>
            <a:off x="5394960" y="1965960"/>
            <a:ext cx="6248095" cy="4251960"/>
          </a:xfrm>
          <a:prstGeom prst="roundRect">
            <a:avLst>
              <a:gd name="adj" fmla="val 2151"/>
            </a:avLst>
          </a:prstGeom>
          <a:solidFill>
            <a:schemeClr val="tx1"/>
          </a:solidFill>
          <a:ln/>
        </p:spPr>
      </p:sp>
      <p:pic>
        <p:nvPicPr>
          <p:cNvPr id="6" name="Image 0" descr="Studio tab showing the Portrait Pro preset with a before and after slider">    </p:cNvPr>
          <p:cNvPicPr>
            <a:picLocks noChangeAspect="1"/>
          </p:cNvPicPr>
          <p:nvPr/>
        </p:nvPicPr>
        <p:blipFill>
          <a:blip r:embed="rId1"/>
          <a:stretch>
            <a:fillRect/>
          </a:stretch>
        </p:blipFill>
        <p:spPr>
          <a:xfrm>
            <a:off x="5660963" y="2057400"/>
            <a:ext cx="5716089" cy="4069080"/>
          </a:xfrm>
          <a:prstGeom prst="rect">
            <a:avLst/>
          </a:prstGeom>
        </p:spPr>
      </p:pic>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1"/>
                </a:solidFill>
              </a:rPr>
              <a:t>FACE EFFECTS · SHREYASH</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bg1"/>
                </a:solidFill>
              </a:rPr>
              <a:t>Segmentation and landmarks drive every face-aware effect</a:t>
            </a:r>
            <a:endParaRPr lang="en-US" sz="3400" dirty="0"/>
          </a:p>
        </p:txBody>
      </p:sp>
      <p:sp>
        <p:nvSpPr>
          <p:cNvPr id="4" name="Effects frame"/>
          <p:cNvSpPr/>
          <p:nvPr/>
        </p:nvSpPr>
        <p:spPr>
          <a:xfrm>
            <a:off x="548640" y="1920240"/>
            <a:ext cx="11094415" cy="3291840"/>
          </a:xfrm>
          <a:prstGeom prst="roundRect">
            <a:avLst>
              <a:gd name="adj" fmla="val 2778"/>
            </a:avLst>
          </a:prstGeom>
          <a:solidFill>
            <a:schemeClr val="bg1"/>
          </a:solidFill>
          <a:ln/>
        </p:spPr>
      </p:sp>
      <p:pic>
        <p:nvPicPr>
          <p:cNvPr id="5" name="Image 0" descr="Ten outputs: original, Portrait Pro, AR hat and glasses, cat face, skin smoothing, mesh, head pose, pixelation, studio backdrop, cartoon">    </p:cNvPr>
          <p:cNvPicPr>
            <a:picLocks noChangeAspect="1"/>
          </p:cNvPicPr>
          <p:nvPr/>
        </p:nvPicPr>
        <p:blipFill>
          <a:blip r:embed="rId1"/>
          <a:stretch>
            <a:fillRect/>
          </a:stretch>
        </p:blipFill>
        <p:spPr>
          <a:xfrm>
            <a:off x="2036157" y="2011680"/>
            <a:ext cx="8119382" cy="3108960"/>
          </a:xfrm>
          <a:prstGeom prst="rect">
            <a:avLst/>
          </a:prstGeom>
        </p:spPr>
      </p:pic>
      <p:sp>
        <p:nvSpPr>
          <p:cNvPr id="6" name="Text 3"/>
          <p:cNvSpPr txBox="1"/>
          <p:nvPr/>
        </p:nvSpPr>
        <p:spPr>
          <a:xfrm>
            <a:off x="548640" y="5440680"/>
            <a:ext cx="3454298" cy="822960"/>
          </a:xfrm>
          <a:prstGeom prst="rect">
            <a:avLst/>
          </a:prstGeom>
          <a:noFill/>
          <a:ln/>
        </p:spPr>
        <p:txBody>
          <a:bodyPr wrap="square" lIns="0" tIns="0" rIns="0" bIns="0" rtlCol="0" anchor="t"/>
          <a:lstStyle/>
          <a:p>
            <a:pPr indent="0" marL="0">
              <a:buNone/>
            </a:pPr>
            <a:r>
              <a:rPr lang="en-US" sz="1500" b="1" dirty="0">
                <a:solidFill>
                  <a:schemeClr val="bg1"/>
                </a:solidFill>
              </a:rPr>
              <a:t>Background: </a:t>
            </a:r>
            <a:pPr indent="0" marL="0">
              <a:buNone/>
            </a:pPr>
            <a:r>
              <a:rPr lang="en-US" sz="1500" dirty="0">
                <a:solidFill>
                  <a:schemeClr val="accent6"/>
                </a:solidFill>
              </a:rPr>
              <a:t>O = αI + (1 − α)B with a feathered person mask</a:t>
            </a:r>
            <a:endParaRPr lang="en-US" sz="1500" dirty="0"/>
          </a:p>
        </p:txBody>
      </p:sp>
      <p:sp>
        <p:nvSpPr>
          <p:cNvPr id="7" name="Text 4"/>
          <p:cNvSpPr txBox="1"/>
          <p:nvPr/>
        </p:nvSpPr>
        <p:spPr>
          <a:xfrm>
            <a:off x="4368698" y="5440680"/>
            <a:ext cx="3454298" cy="822960"/>
          </a:xfrm>
          <a:prstGeom prst="rect">
            <a:avLst/>
          </a:prstGeom>
          <a:noFill/>
          <a:ln/>
        </p:spPr>
        <p:txBody>
          <a:bodyPr wrap="square" lIns="0" tIns="0" rIns="0" bIns="0" rtlCol="0" anchor="t"/>
          <a:lstStyle/>
          <a:p>
            <a:pPr indent="0" marL="0">
              <a:buNone/>
            </a:pPr>
            <a:r>
              <a:rPr lang="en-US" sz="1500" b="1" dirty="0">
                <a:solidFill>
                  <a:schemeClr val="bg1"/>
                </a:solidFill>
              </a:rPr>
              <a:t>Beauty: </a:t>
            </a:r>
            <a:pPr indent="0" marL="0">
              <a:buNone/>
            </a:pPr>
            <a:r>
              <a:rPr lang="en-US" sz="1500" dirty="0">
                <a:solidFill>
                  <a:schemeClr val="accent6"/>
                </a:solidFill>
              </a:rPr>
              <a:t>bilateral filter inside the skin mask; lips and eyes recoloured in HSV</a:t>
            </a:r>
            <a:endParaRPr lang="en-US" sz="1500" dirty="0"/>
          </a:p>
        </p:txBody>
      </p:sp>
      <p:sp>
        <p:nvSpPr>
          <p:cNvPr id="8" name="Text 5"/>
          <p:cNvSpPr txBox="1"/>
          <p:nvPr/>
        </p:nvSpPr>
        <p:spPr>
          <a:xfrm>
            <a:off x="8188757" y="5440680"/>
            <a:ext cx="3454298" cy="822960"/>
          </a:xfrm>
          <a:prstGeom prst="rect">
            <a:avLst/>
          </a:prstGeom>
          <a:noFill/>
          <a:ln/>
        </p:spPr>
        <p:txBody>
          <a:bodyPr wrap="square" lIns="0" tIns="0" rIns="0" bIns="0" rtlCol="0" anchor="t"/>
          <a:lstStyle/>
          <a:p>
            <a:pPr indent="0" marL="0">
              <a:buNone/>
            </a:pPr>
            <a:r>
              <a:rPr lang="en-US" sz="1500" b="1" dirty="0">
                <a:solidFill>
                  <a:schemeClr val="bg1"/>
                </a:solidFill>
              </a:rPr>
              <a:t>Privacy: </a:t>
            </a:r>
            <a:pPr indent="0" marL="0">
              <a:buNone/>
            </a:pPr>
            <a:r>
              <a:rPr lang="en-US" sz="1500" dirty="0">
                <a:solidFill>
                  <a:schemeClr val="accent6"/>
                </a:solidFill>
              </a:rPr>
              <a:t>blur, pixelate or eye-bar every detected face</a:t>
            </a:r>
            <a:endParaRPr lang="en-US" sz="15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2"/>
                </a:solidFill>
              </a:rPr>
              <a:t>FACE GEOMETRY · VANSH AND SHREYASH</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tx1"/>
                </a:solidFill>
              </a:rPr>
              <a:t>Landmarks give a face frame, head pose and blink test</a:t>
            </a:r>
            <a:endParaRPr lang="en-US" sz="3400" dirty="0"/>
          </a:p>
        </p:txBody>
      </p:sp>
      <p:sp>
        <p:nvSpPr>
          <p:cNvPr id="4" name="Card AR face frame"/>
          <p:cNvSpPr/>
          <p:nvPr/>
        </p:nvSpPr>
        <p:spPr>
          <a:xfrm>
            <a:off x="548640" y="1965960"/>
            <a:ext cx="6035040" cy="1280160"/>
          </a:xfrm>
          <a:prstGeom prst="roundRect">
            <a:avLst>
              <a:gd name="adj" fmla="val 8571"/>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2130552"/>
            <a:ext cx="5486400" cy="365760"/>
          </a:xfrm>
          <a:prstGeom prst="rect">
            <a:avLst/>
          </a:prstGeom>
          <a:noFill/>
          <a:ln/>
        </p:spPr>
        <p:txBody>
          <a:bodyPr wrap="square" lIns="0" tIns="0" rIns="0" bIns="0" rtlCol="0" anchor="t"/>
          <a:lstStyle/>
          <a:p>
            <a:pPr indent="0" marL="0">
              <a:buNone/>
            </a:pPr>
            <a:r>
              <a:rPr lang="en-US" sz="1900" b="1" dirty="0">
                <a:solidFill>
                  <a:schemeClr val="tx1"/>
                </a:solidFill>
              </a:rPr>
              <a:t>AR face frame</a:t>
            </a:r>
            <a:endParaRPr lang="en-US" sz="1900" dirty="0"/>
          </a:p>
        </p:txBody>
      </p:sp>
      <p:sp>
        <p:nvSpPr>
          <p:cNvPr id="6" name="Text 4"/>
          <p:cNvSpPr txBox="1"/>
          <p:nvPr/>
        </p:nvSpPr>
        <p:spPr>
          <a:xfrm>
            <a:off x="822960" y="2514600"/>
            <a:ext cx="5486400" cy="640080"/>
          </a:xfrm>
          <a:prstGeom prst="rect">
            <a:avLst/>
          </a:prstGeom>
          <a:noFill/>
          <a:ln/>
        </p:spPr>
        <p:txBody>
          <a:bodyPr wrap="square" lIns="0" tIns="0" rIns="0" bIns="0" rtlCol="0" anchor="t"/>
          <a:lstStyle/>
          <a:p>
            <a:pPr indent="0" marL="0">
              <a:buNone/>
            </a:pPr>
            <a:r>
              <a:rPr lang="en-US" sz="1500" dirty="0">
                <a:solidFill>
                  <a:schemeClr val="tx2"/>
                </a:solidFill>
              </a:rPr>
              <a:t>Origin at the eye midpoint, unit = inter-ocular distance d: p = origin + d(u·e1 + v·e2)</a:t>
            </a:r>
            <a:endParaRPr lang="en-US" sz="1500" dirty="0"/>
          </a:p>
        </p:txBody>
      </p:sp>
      <p:sp>
        <p:nvSpPr>
          <p:cNvPr id="7" name="Card Head pose"/>
          <p:cNvSpPr/>
          <p:nvPr/>
        </p:nvSpPr>
        <p:spPr>
          <a:xfrm>
            <a:off x="548640" y="3429000"/>
            <a:ext cx="6035040" cy="1280160"/>
          </a:xfrm>
          <a:prstGeom prst="roundRect">
            <a:avLst>
              <a:gd name="adj" fmla="val 8571"/>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822960" y="3593592"/>
            <a:ext cx="5486400" cy="365760"/>
          </a:xfrm>
          <a:prstGeom prst="rect">
            <a:avLst/>
          </a:prstGeom>
          <a:noFill/>
          <a:ln/>
        </p:spPr>
        <p:txBody>
          <a:bodyPr wrap="square" lIns="0" tIns="0" rIns="0" bIns="0" rtlCol="0" anchor="t"/>
          <a:lstStyle/>
          <a:p>
            <a:pPr indent="0" marL="0">
              <a:buNone/>
            </a:pPr>
            <a:r>
              <a:rPr lang="en-US" sz="1900" b="1" dirty="0">
                <a:solidFill>
                  <a:schemeClr val="tx1"/>
                </a:solidFill>
              </a:rPr>
              <a:t>Head pose</a:t>
            </a:r>
            <a:endParaRPr lang="en-US" sz="1900" dirty="0"/>
          </a:p>
        </p:txBody>
      </p:sp>
      <p:sp>
        <p:nvSpPr>
          <p:cNvPr id="9" name="Text 7"/>
          <p:cNvSpPr txBox="1"/>
          <p:nvPr/>
        </p:nvSpPr>
        <p:spPr>
          <a:xfrm>
            <a:off x="822960" y="3977640"/>
            <a:ext cx="5486400" cy="640080"/>
          </a:xfrm>
          <a:prstGeom prst="rect">
            <a:avLst/>
          </a:prstGeom>
          <a:noFill/>
          <a:ln/>
        </p:spPr>
        <p:txBody>
          <a:bodyPr wrap="square" lIns="0" tIns="0" rIns="0" bIns="0" rtlCol="0" anchor="t"/>
          <a:lstStyle/>
          <a:p>
            <a:pPr indent="0" marL="0">
              <a:buNone/>
            </a:pPr>
            <a:r>
              <a:rPr lang="en-US" sz="1500" dirty="0">
                <a:solidFill>
                  <a:schemeClr val="tx2"/>
                </a:solidFill>
              </a:rPr>
              <a:t>Gram–Schmidt on eye-corner and forehead-to-chin vectors gives a rotation matrix: yaw, pitch, roll</a:t>
            </a:r>
            <a:endParaRPr lang="en-US" sz="1500" dirty="0"/>
          </a:p>
        </p:txBody>
      </p:sp>
      <p:sp>
        <p:nvSpPr>
          <p:cNvPr id="10" name="Card Eye aspect ratio"/>
          <p:cNvSpPr/>
          <p:nvPr/>
        </p:nvSpPr>
        <p:spPr>
          <a:xfrm>
            <a:off x="548640" y="4892040"/>
            <a:ext cx="6035040" cy="1280160"/>
          </a:xfrm>
          <a:prstGeom prst="roundRect">
            <a:avLst>
              <a:gd name="adj" fmla="val 8571"/>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822960" y="5056632"/>
            <a:ext cx="5486400" cy="365760"/>
          </a:xfrm>
          <a:prstGeom prst="rect">
            <a:avLst/>
          </a:prstGeom>
          <a:noFill/>
          <a:ln/>
        </p:spPr>
        <p:txBody>
          <a:bodyPr wrap="square" lIns="0" tIns="0" rIns="0" bIns="0" rtlCol="0" anchor="t"/>
          <a:lstStyle/>
          <a:p>
            <a:pPr indent="0" marL="0">
              <a:buNone/>
            </a:pPr>
            <a:r>
              <a:rPr lang="en-US" sz="1900" b="1" dirty="0">
                <a:solidFill>
                  <a:schemeClr val="tx1"/>
                </a:solidFill>
              </a:rPr>
              <a:t>Eye aspect ratio</a:t>
            </a:r>
            <a:endParaRPr lang="en-US" sz="1900" dirty="0"/>
          </a:p>
        </p:txBody>
      </p:sp>
      <p:sp>
        <p:nvSpPr>
          <p:cNvPr id="12" name="Text 10"/>
          <p:cNvSpPr txBox="1"/>
          <p:nvPr/>
        </p:nvSpPr>
        <p:spPr>
          <a:xfrm>
            <a:off x="822960" y="5440680"/>
            <a:ext cx="5486400" cy="640080"/>
          </a:xfrm>
          <a:prstGeom prst="rect">
            <a:avLst/>
          </a:prstGeom>
          <a:noFill/>
          <a:ln/>
        </p:spPr>
        <p:txBody>
          <a:bodyPr wrap="square" lIns="0" tIns="0" rIns="0" bIns="0" rtlCol="0" anchor="t"/>
          <a:lstStyle/>
          <a:p>
            <a:pPr indent="0" marL="0">
              <a:buNone/>
            </a:pPr>
            <a:r>
              <a:rPr lang="en-US" sz="1500" dirty="0">
                <a:solidFill>
                  <a:schemeClr val="tx2"/>
                </a:solidFill>
              </a:rPr>
              <a:t>EAR = (|p2−p6| + |p3−p5|) / (2|p1−p4|); below 0.20 = closed</a:t>
            </a:r>
            <a:endParaRPr lang="en-US" sz="1500" dirty="0"/>
          </a:p>
        </p:txBody>
      </p:sp>
      <p:sp>
        <p:nvSpPr>
          <p:cNvPr id="13" name="Pose frame"/>
          <p:cNvSpPr/>
          <p:nvPr/>
        </p:nvSpPr>
        <p:spPr>
          <a:xfrm>
            <a:off x="6949440" y="1965960"/>
            <a:ext cx="4693615" cy="4206240"/>
          </a:xfrm>
          <a:prstGeom prst="roundRect">
            <a:avLst>
              <a:gd name="adj" fmla="val 2174"/>
            </a:avLst>
          </a:prstGeom>
          <a:solidFill>
            <a:schemeClr val="tx1"/>
          </a:solidFill>
          <a:ln/>
        </p:spPr>
      </p:sp>
      <p:pic>
        <p:nvPicPr>
          <p:cNvPr id="14" name="Image 0" descr="Face Analysis tab with head-pose axes and yaw, pitch, roll, eye and mouth readouts">    </p:cNvPr>
          <p:cNvPicPr>
            <a:picLocks noChangeAspect="1"/>
          </p:cNvPicPr>
          <p:nvPr/>
        </p:nvPicPr>
        <p:blipFill>
          <a:blip r:embed="rId1"/>
          <a:stretch>
            <a:fillRect/>
          </a:stretch>
        </p:blipFill>
        <p:spPr>
          <a:xfrm>
            <a:off x="7040880" y="2540017"/>
            <a:ext cx="4510735" cy="3058126"/>
          </a:xfrm>
          <a:prstGeom prst="rect">
            <a:avLst/>
          </a:prstGeom>
        </p:spPr>
      </p:pic>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1"/>
                </a:solidFill>
              </a:rPr>
              <a:t>RESULT 1 · FACE DETECTION · VANSH</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bg1"/>
                </a:solidFill>
              </a:rPr>
              <a:t>Tiling lifted BlazeFace from 2 to 16 of 20 faces</a:t>
            </a:r>
            <a:endParaRPr lang="en-US" sz="3400" dirty="0"/>
          </a:p>
        </p:txBody>
      </p:sp>
      <p:sp>
        <p:nvSpPr>
          <p:cNvPr id="4" name="Stat BlazeFace, single pass"/>
          <p:cNvSpPr/>
          <p:nvPr/>
        </p:nvSpPr>
        <p:spPr>
          <a:xfrm>
            <a:off x="548640" y="2103120"/>
            <a:ext cx="3454298" cy="3383280"/>
          </a:xfrm>
          <a:prstGeom prst="roundRect">
            <a:avLst>
              <a:gd name="adj" fmla="val 3243"/>
            </a:avLst>
          </a:prstGeom>
          <a:solidFill>
            <a:schemeClr val="accent3"/>
          </a:solidFill>
          <a:ln w="9525">
            <a:solidFill>
              <a:srgbClr val="2F3A4D"/>
            </a:solidFill>
            <a:prstDash val="solid"/>
          </a:ln>
        </p:spPr>
      </p:sp>
      <p:sp>
        <p:nvSpPr>
          <p:cNvPr id="5" name="Text 3"/>
          <p:cNvSpPr txBox="1"/>
          <p:nvPr/>
        </p:nvSpPr>
        <p:spPr>
          <a:xfrm>
            <a:off x="868680" y="2331720"/>
            <a:ext cx="2814218" cy="1097280"/>
          </a:xfrm>
          <a:prstGeom prst="rect">
            <a:avLst/>
          </a:prstGeom>
          <a:noFill/>
          <a:ln/>
        </p:spPr>
        <p:txBody>
          <a:bodyPr wrap="square" lIns="0" tIns="0" rIns="0" bIns="0" rtlCol="0" anchor="t"/>
          <a:lstStyle/>
          <a:p>
            <a:pPr indent="0" marL="0">
              <a:buNone/>
            </a:pPr>
            <a:r>
              <a:rPr lang="en-US" sz="6600" b="1" dirty="0">
                <a:solidFill>
                  <a:schemeClr val="accent6"/>
                </a:solidFill>
              </a:rPr>
              <a:t>2/20</a:t>
            </a:r>
            <a:endParaRPr lang="en-US" sz="6600" dirty="0"/>
          </a:p>
        </p:txBody>
      </p:sp>
      <p:sp>
        <p:nvSpPr>
          <p:cNvPr id="6" name="Text 4"/>
          <p:cNvSpPr txBox="1"/>
          <p:nvPr/>
        </p:nvSpPr>
        <p:spPr>
          <a:xfrm>
            <a:off x="868680" y="3611880"/>
            <a:ext cx="2814218" cy="457200"/>
          </a:xfrm>
          <a:prstGeom prst="rect">
            <a:avLst/>
          </a:prstGeom>
          <a:noFill/>
          <a:ln/>
        </p:spPr>
        <p:txBody>
          <a:bodyPr wrap="square" lIns="0" tIns="0" rIns="0" bIns="0" rtlCol="0" anchor="t"/>
          <a:lstStyle/>
          <a:p>
            <a:pPr indent="0" marL="0">
              <a:buNone/>
            </a:pPr>
            <a:r>
              <a:rPr lang="en-US" sz="2000" b="1" dirty="0">
                <a:solidFill>
                  <a:schemeClr val="bg1"/>
                </a:solidFill>
              </a:rPr>
              <a:t>BlazeFace, single pass</a:t>
            </a:r>
            <a:endParaRPr lang="en-US" sz="2000" dirty="0"/>
          </a:p>
        </p:txBody>
      </p:sp>
      <p:sp>
        <p:nvSpPr>
          <p:cNvPr id="7" name="Text 5"/>
          <p:cNvSpPr txBox="1"/>
          <p:nvPr/>
        </p:nvSpPr>
        <p:spPr>
          <a:xfrm>
            <a:off x="868680" y="4114800"/>
            <a:ext cx="2814218" cy="1188720"/>
          </a:xfrm>
          <a:prstGeom prst="rect">
            <a:avLst/>
          </a:prstGeom>
          <a:noFill/>
          <a:ln/>
        </p:spPr>
        <p:txBody>
          <a:bodyPr wrap="square" lIns="0" tIns="0" rIns="0" bIns="0" rtlCol="0" anchor="t"/>
          <a:lstStyle/>
          <a:p>
            <a:pPr indent="0" marL="0">
              <a:buNone/>
            </a:pPr>
            <a:r>
              <a:rPr lang="en-US" sz="1500" dirty="0">
                <a:solidFill>
                  <a:schemeClr val="accent6"/>
                </a:solidFill>
              </a:rPr>
              <a:t>Whole frame at 128×128: a 40 px face shrinks to about 6 px</a:t>
            </a:r>
            <a:endParaRPr lang="en-US" sz="1500" dirty="0"/>
          </a:p>
        </p:txBody>
      </p:sp>
      <p:sp>
        <p:nvSpPr>
          <p:cNvPr id="8" name="Stat BlazeFace, multi-scale"/>
          <p:cNvSpPr/>
          <p:nvPr/>
        </p:nvSpPr>
        <p:spPr>
          <a:xfrm>
            <a:off x="4368698" y="2103120"/>
            <a:ext cx="3454298" cy="3383280"/>
          </a:xfrm>
          <a:prstGeom prst="roundRect">
            <a:avLst>
              <a:gd name="adj" fmla="val 3243"/>
            </a:avLst>
          </a:prstGeom>
          <a:solidFill>
            <a:schemeClr val="accent1">
              <a:alpha val="15000"/>
            </a:schemeClr>
          </a:solidFill>
          <a:ln w="19050">
            <a:solidFill>
              <a:schemeClr val="accent1"/>
            </a:solidFill>
            <a:prstDash val="solid"/>
          </a:ln>
        </p:spPr>
      </p:sp>
      <p:sp>
        <p:nvSpPr>
          <p:cNvPr id="9" name="Text 7"/>
          <p:cNvSpPr txBox="1"/>
          <p:nvPr/>
        </p:nvSpPr>
        <p:spPr>
          <a:xfrm>
            <a:off x="4688738" y="2331720"/>
            <a:ext cx="2814218" cy="1097280"/>
          </a:xfrm>
          <a:prstGeom prst="rect">
            <a:avLst/>
          </a:prstGeom>
          <a:noFill/>
          <a:ln/>
        </p:spPr>
        <p:txBody>
          <a:bodyPr wrap="square" lIns="0" tIns="0" rIns="0" bIns="0" rtlCol="0" anchor="t"/>
          <a:lstStyle/>
          <a:p>
            <a:pPr indent="0" marL="0">
              <a:buNone/>
            </a:pPr>
            <a:r>
              <a:rPr lang="en-US" sz="6600" b="1" dirty="0">
                <a:solidFill>
                  <a:schemeClr val="accent1"/>
                </a:solidFill>
              </a:rPr>
              <a:t>16/20</a:t>
            </a:r>
            <a:endParaRPr lang="en-US" sz="6600" dirty="0"/>
          </a:p>
        </p:txBody>
      </p:sp>
      <p:sp>
        <p:nvSpPr>
          <p:cNvPr id="10" name="Text 8"/>
          <p:cNvSpPr txBox="1"/>
          <p:nvPr/>
        </p:nvSpPr>
        <p:spPr>
          <a:xfrm>
            <a:off x="4688738" y="3611880"/>
            <a:ext cx="2814218" cy="457200"/>
          </a:xfrm>
          <a:prstGeom prst="rect">
            <a:avLst/>
          </a:prstGeom>
          <a:noFill/>
          <a:ln/>
        </p:spPr>
        <p:txBody>
          <a:bodyPr wrap="square" lIns="0" tIns="0" rIns="0" bIns="0" rtlCol="0" anchor="t"/>
          <a:lstStyle/>
          <a:p>
            <a:pPr indent="0" marL="0">
              <a:buNone/>
            </a:pPr>
            <a:r>
              <a:rPr lang="en-US" sz="2000" b="1" dirty="0">
                <a:solidFill>
                  <a:schemeClr val="bg1"/>
                </a:solidFill>
              </a:rPr>
              <a:t>BlazeFace, multi-scale</a:t>
            </a:r>
            <a:endParaRPr lang="en-US" sz="2000" dirty="0"/>
          </a:p>
        </p:txBody>
      </p:sp>
      <p:sp>
        <p:nvSpPr>
          <p:cNvPr id="11" name="Text 9"/>
          <p:cNvSpPr txBox="1"/>
          <p:nvPr/>
        </p:nvSpPr>
        <p:spPr>
          <a:xfrm>
            <a:off x="4688738" y="4114800"/>
            <a:ext cx="2814218" cy="1188720"/>
          </a:xfrm>
          <a:prstGeom prst="rect">
            <a:avLst/>
          </a:prstGeom>
          <a:noFill/>
          <a:ln/>
        </p:spPr>
        <p:txBody>
          <a:bodyPr wrap="square" lIns="0" tIns="0" rIns="0" bIns="0" rtlCol="0" anchor="t"/>
          <a:lstStyle/>
          <a:p>
            <a:pPr indent="0" marL="0">
              <a:buNone/>
            </a:pPr>
            <a:r>
              <a:rPr lang="en-US" sz="1500" dirty="0">
                <a:solidFill>
                  <a:schemeClr val="accent6"/>
                </a:solidFill>
              </a:rPr>
              <a:t>2×2, 3×3, 4×4 tiles, confidence ≥ 0.6, non-maximum suppression</a:t>
            </a:r>
            <a:endParaRPr lang="en-US" sz="1500" dirty="0"/>
          </a:p>
        </p:txBody>
      </p:sp>
      <p:sp>
        <p:nvSpPr>
          <p:cNvPr id="12" name="Stat Haar cascade"/>
          <p:cNvSpPr/>
          <p:nvPr/>
        </p:nvSpPr>
        <p:spPr>
          <a:xfrm>
            <a:off x="8188757" y="2103120"/>
            <a:ext cx="3454298" cy="3383280"/>
          </a:xfrm>
          <a:prstGeom prst="roundRect">
            <a:avLst>
              <a:gd name="adj" fmla="val 3243"/>
            </a:avLst>
          </a:prstGeom>
          <a:solidFill>
            <a:schemeClr val="accent3"/>
          </a:solidFill>
          <a:ln w="9525">
            <a:solidFill>
              <a:srgbClr val="2F3A4D"/>
            </a:solidFill>
            <a:prstDash val="solid"/>
          </a:ln>
        </p:spPr>
      </p:sp>
      <p:sp>
        <p:nvSpPr>
          <p:cNvPr id="13" name="Text 11"/>
          <p:cNvSpPr txBox="1"/>
          <p:nvPr/>
        </p:nvSpPr>
        <p:spPr>
          <a:xfrm>
            <a:off x="8508797" y="2331720"/>
            <a:ext cx="2814218" cy="1097280"/>
          </a:xfrm>
          <a:prstGeom prst="rect">
            <a:avLst/>
          </a:prstGeom>
          <a:noFill/>
          <a:ln/>
        </p:spPr>
        <p:txBody>
          <a:bodyPr wrap="square" lIns="0" tIns="0" rIns="0" bIns="0" rtlCol="0" anchor="t"/>
          <a:lstStyle/>
          <a:p>
            <a:pPr indent="0" marL="0">
              <a:buNone/>
            </a:pPr>
            <a:r>
              <a:rPr lang="en-US" sz="6600" b="1" dirty="0">
                <a:solidFill>
                  <a:schemeClr val="accent5"/>
                </a:solidFill>
              </a:rPr>
              <a:t>20/20</a:t>
            </a:r>
            <a:endParaRPr lang="en-US" sz="6600" dirty="0"/>
          </a:p>
        </p:txBody>
      </p:sp>
      <p:sp>
        <p:nvSpPr>
          <p:cNvPr id="14" name="Text 12"/>
          <p:cNvSpPr txBox="1"/>
          <p:nvPr/>
        </p:nvSpPr>
        <p:spPr>
          <a:xfrm>
            <a:off x="8508797" y="3611880"/>
            <a:ext cx="2814218" cy="457200"/>
          </a:xfrm>
          <a:prstGeom prst="rect">
            <a:avLst/>
          </a:prstGeom>
          <a:noFill/>
          <a:ln/>
        </p:spPr>
        <p:txBody>
          <a:bodyPr wrap="square" lIns="0" tIns="0" rIns="0" bIns="0" rtlCol="0" anchor="t"/>
          <a:lstStyle/>
          <a:p>
            <a:pPr indent="0" marL="0">
              <a:buNone/>
            </a:pPr>
            <a:r>
              <a:rPr lang="en-US" sz="2000" b="1" dirty="0">
                <a:solidFill>
                  <a:schemeClr val="bg1"/>
                </a:solidFill>
              </a:rPr>
              <a:t>Haar cascade</a:t>
            </a:r>
            <a:endParaRPr lang="en-US" sz="2000" dirty="0"/>
          </a:p>
        </p:txBody>
      </p:sp>
      <p:sp>
        <p:nvSpPr>
          <p:cNvPr id="15" name="Text 13"/>
          <p:cNvSpPr txBox="1"/>
          <p:nvPr/>
        </p:nvSpPr>
        <p:spPr>
          <a:xfrm>
            <a:off x="8508797" y="4114800"/>
            <a:ext cx="2814218" cy="1188720"/>
          </a:xfrm>
          <a:prstGeom prst="rect">
            <a:avLst/>
          </a:prstGeom>
          <a:noFill/>
          <a:ln/>
        </p:spPr>
        <p:txBody>
          <a:bodyPr wrap="square" lIns="0" tIns="0" rIns="0" bIns="0" rtlCol="0" anchor="t"/>
          <a:lstStyle/>
          <a:p>
            <a:pPr indent="0" marL="0">
              <a:buNone/>
            </a:pPr>
            <a:r>
              <a:rPr lang="en-US" sz="1500" dirty="0">
                <a:solidFill>
                  <a:schemeClr val="accent6"/>
                </a:solidFill>
              </a:rPr>
              <a:t>Strong on these upright, frontal test faces</a:t>
            </a:r>
            <a:endParaRPr lang="en-US" sz="1500" dirty="0"/>
          </a:p>
        </p:txBody>
      </p:sp>
      <p:sp>
        <p:nvSpPr>
          <p:cNvPr id="16" name="Text 14"/>
          <p:cNvSpPr txBox="1"/>
          <p:nvPr/>
        </p:nvSpPr>
        <p:spPr>
          <a:xfrm>
            <a:off x="548640" y="5897880"/>
            <a:ext cx="9997135" cy="320040"/>
          </a:xfrm>
          <a:prstGeom prst="rect">
            <a:avLst/>
          </a:prstGeom>
          <a:noFill/>
          <a:ln/>
        </p:spPr>
        <p:txBody>
          <a:bodyPr wrap="square" lIns="0" tIns="0" rIns="0" bIns="0" rtlCol="0" anchor="t"/>
          <a:lstStyle/>
          <a:p>
            <a:pPr indent="0" marL="0">
              <a:buNone/>
            </a:pPr>
            <a:r>
              <a:rPr lang="en-US" sz="1100" dirty="0">
                <a:solidFill>
                  <a:schemeClr val="accent6"/>
                </a:solidFill>
              </a:rPr>
              <a:t>8 images (7 CMU/MIT test images from OpenCV test data + NASA portrait), 20 faces; no false boxes; every box checked by eye · benchmark.py</a:t>
            </a:r>
            <a:endParaRPr lang="en-US" sz="11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2"/>
                </a:solidFill>
              </a:rPr>
              <a:t>RESULT 2 · ROBUSTNESS · VANSH</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tx1"/>
                </a:solidFill>
              </a:rPr>
              <a:t>Haar loses rotated faces; BlazeFace loses heavy noise</a:t>
            </a:r>
            <a:endParaRPr lang="en-US" sz="3400" dirty="0"/>
          </a:p>
        </p:txBody>
      </p:sp>
      <p:graphicFrame>
        <p:nvGraphicFramePr>
          <p:cNvPr id="4" name="Chart 0" descr=""/>
          <p:cNvGraphicFramePr/>
          <p:nvPr/>
        </p:nvGraphicFramePr>
        <p:xfrm>
          <a:off x="548640" y="1874520"/>
          <a:ext cx="11094415" cy="4160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6172200"/>
            <a:ext cx="9997135" cy="320040"/>
          </a:xfrm>
          <a:prstGeom prst="rect">
            <a:avLst/>
          </a:prstGeom>
          <a:noFill/>
          <a:ln/>
        </p:spPr>
        <p:txBody>
          <a:bodyPr wrap="square" lIns="0" tIns="0" rIns="0" bIns="0" rtlCol="0" anchor="t"/>
          <a:lstStyle/>
          <a:p>
            <a:pPr indent="0" marL="0">
              <a:buNone/>
            </a:pPr>
            <a:r>
              <a:rPr lang="en-US" sz="1100" dirty="0">
                <a:solidFill>
                  <a:schemeClr val="tx2"/>
                </a:solidFill>
              </a:rPr>
              <a:t>5 of 12 tested conditions shown; all 12 are in the report (Figure 2) and in docs/results/robustness.csv</a:t>
            </a:r>
            <a:endParaRPr lang="en-US" sz="11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1"/>
                </a:solidFill>
              </a:rPr>
              <a:t>RESULT 3 · SPEED AND QUALITY · ANMOL</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bg1"/>
                </a:solidFill>
              </a:rPr>
              <a:t>One BlazeFace pass is about 30× faster than Haar</a:t>
            </a:r>
            <a:endParaRPr lang="en-US" sz="3400" dirty="0"/>
          </a:p>
        </p:txBody>
      </p:sp>
      <p:sp>
        <p:nvSpPr>
          <p:cNvPr id="4" name="Stat 5 ms"/>
          <p:cNvSpPr/>
          <p:nvPr/>
        </p:nvSpPr>
        <p:spPr>
          <a:xfrm>
            <a:off x="548640" y="2011680"/>
            <a:ext cx="3454298" cy="2377440"/>
          </a:xfrm>
          <a:prstGeom prst="roundRect">
            <a:avLst>
              <a:gd name="adj" fmla="val 4615"/>
            </a:avLst>
          </a:prstGeom>
          <a:solidFill>
            <a:schemeClr val="accent1">
              <a:alpha val="15000"/>
            </a:schemeClr>
          </a:solidFill>
          <a:ln w="19050">
            <a:solidFill>
              <a:schemeClr val="accent1"/>
            </a:solidFill>
            <a:prstDash val="solid"/>
          </a:ln>
        </p:spPr>
      </p:sp>
      <p:sp>
        <p:nvSpPr>
          <p:cNvPr id="5" name="Text 3"/>
          <p:cNvSpPr txBox="1"/>
          <p:nvPr/>
        </p:nvSpPr>
        <p:spPr>
          <a:xfrm>
            <a:off x="868680" y="2240280"/>
            <a:ext cx="2814218" cy="1005840"/>
          </a:xfrm>
          <a:prstGeom prst="rect">
            <a:avLst/>
          </a:prstGeom>
          <a:noFill/>
          <a:ln/>
        </p:spPr>
        <p:txBody>
          <a:bodyPr wrap="square" lIns="0" tIns="0" rIns="0" bIns="0" rtlCol="0" anchor="t"/>
          <a:lstStyle/>
          <a:p>
            <a:pPr indent="0" marL="0">
              <a:buNone/>
            </a:pPr>
            <a:r>
              <a:rPr lang="en-US" sz="6000" b="1" dirty="0">
                <a:solidFill>
                  <a:schemeClr val="accent1"/>
                </a:solidFill>
              </a:rPr>
              <a:t>5 ms</a:t>
            </a:r>
            <a:endParaRPr lang="en-US" sz="6000" dirty="0"/>
          </a:p>
        </p:txBody>
      </p:sp>
      <p:sp>
        <p:nvSpPr>
          <p:cNvPr id="6" name="Text 4"/>
          <p:cNvSpPr txBox="1"/>
          <p:nvPr/>
        </p:nvSpPr>
        <p:spPr>
          <a:xfrm>
            <a:off x="868680" y="3337560"/>
            <a:ext cx="2814218" cy="914400"/>
          </a:xfrm>
          <a:prstGeom prst="rect">
            <a:avLst/>
          </a:prstGeom>
          <a:noFill/>
          <a:ln/>
        </p:spPr>
        <p:txBody>
          <a:bodyPr wrap="square" lIns="0" tIns="0" rIns="0" bIns="0" rtlCol="0" anchor="t"/>
          <a:lstStyle/>
          <a:p>
            <a:pPr indent="0" marL="0">
              <a:buNone/>
            </a:pPr>
            <a:r>
              <a:rPr lang="en-US" sz="1600" dirty="0">
                <a:solidFill>
                  <a:schemeClr val="accent6"/>
                </a:solidFill>
              </a:rPr>
              <a:t>BlazeFace, one pass, against 150 ms for Haar</a:t>
            </a:r>
            <a:endParaRPr lang="en-US" sz="1600" dirty="0"/>
          </a:p>
        </p:txBody>
      </p:sp>
      <p:sp>
        <p:nvSpPr>
          <p:cNvPr id="7" name="Stat 13.5 ms"/>
          <p:cNvSpPr/>
          <p:nvPr/>
        </p:nvSpPr>
        <p:spPr>
          <a:xfrm>
            <a:off x="4368698" y="2011680"/>
            <a:ext cx="3454298" cy="2377440"/>
          </a:xfrm>
          <a:prstGeom prst="roundRect">
            <a:avLst>
              <a:gd name="adj" fmla="val 4615"/>
            </a:avLst>
          </a:prstGeom>
          <a:solidFill>
            <a:schemeClr val="accent3"/>
          </a:solidFill>
          <a:ln w="9525">
            <a:solidFill>
              <a:srgbClr val="2F3A4D"/>
            </a:solidFill>
            <a:prstDash val="solid"/>
          </a:ln>
        </p:spPr>
      </p:sp>
      <p:sp>
        <p:nvSpPr>
          <p:cNvPr id="8" name="Text 6"/>
          <p:cNvSpPr txBox="1"/>
          <p:nvPr/>
        </p:nvSpPr>
        <p:spPr>
          <a:xfrm>
            <a:off x="4688738" y="2240280"/>
            <a:ext cx="2814218" cy="1005840"/>
          </a:xfrm>
          <a:prstGeom prst="rect">
            <a:avLst/>
          </a:prstGeom>
          <a:noFill/>
          <a:ln/>
        </p:spPr>
        <p:txBody>
          <a:bodyPr wrap="square" lIns="0" tIns="0" rIns="0" bIns="0" rtlCol="0" anchor="t"/>
          <a:lstStyle/>
          <a:p>
            <a:pPr indent="0" marL="0">
              <a:buNone/>
            </a:pPr>
            <a:r>
              <a:rPr lang="en-US" sz="6000" b="1" dirty="0">
                <a:solidFill>
                  <a:schemeClr val="bg1"/>
                </a:solidFill>
              </a:rPr>
              <a:t>13.5 ms</a:t>
            </a:r>
            <a:endParaRPr lang="en-US" sz="6000" dirty="0"/>
          </a:p>
        </p:txBody>
      </p:sp>
      <p:sp>
        <p:nvSpPr>
          <p:cNvPr id="9" name="Text 7"/>
          <p:cNvSpPr txBox="1"/>
          <p:nvPr/>
        </p:nvSpPr>
        <p:spPr>
          <a:xfrm>
            <a:off x="4688738" y="3337560"/>
            <a:ext cx="2814218" cy="914400"/>
          </a:xfrm>
          <a:prstGeom prst="rect">
            <a:avLst/>
          </a:prstGeom>
          <a:noFill/>
          <a:ln/>
        </p:spPr>
        <p:txBody>
          <a:bodyPr wrap="square" lIns="0" tIns="0" rIns="0" bIns="0" rtlCol="0" anchor="t"/>
          <a:lstStyle/>
          <a:p>
            <a:pPr indent="0" marL="0">
              <a:buNone/>
            </a:pPr>
            <a:r>
              <a:rPr lang="en-US" sz="1600" dirty="0">
                <a:solidFill>
                  <a:schemeClr val="accent6"/>
                </a:solidFill>
              </a:rPr>
              <a:t>Person segmentation per 512×512 frame</a:t>
            </a:r>
            <a:endParaRPr lang="en-US" sz="1600" dirty="0"/>
          </a:p>
        </p:txBody>
      </p:sp>
      <p:sp>
        <p:nvSpPr>
          <p:cNvPr id="10" name="Stat 46 dB"/>
          <p:cNvSpPr/>
          <p:nvPr/>
        </p:nvSpPr>
        <p:spPr>
          <a:xfrm>
            <a:off x="8188757" y="2011680"/>
            <a:ext cx="3454298" cy="2377440"/>
          </a:xfrm>
          <a:prstGeom prst="roundRect">
            <a:avLst>
              <a:gd name="adj" fmla="val 4615"/>
            </a:avLst>
          </a:prstGeom>
          <a:solidFill>
            <a:schemeClr val="accent3"/>
          </a:solidFill>
          <a:ln w="9525">
            <a:solidFill>
              <a:srgbClr val="2F3A4D"/>
            </a:solidFill>
            <a:prstDash val="solid"/>
          </a:ln>
        </p:spPr>
      </p:sp>
      <p:sp>
        <p:nvSpPr>
          <p:cNvPr id="11" name="Text 9"/>
          <p:cNvSpPr txBox="1"/>
          <p:nvPr/>
        </p:nvSpPr>
        <p:spPr>
          <a:xfrm>
            <a:off x="8508797" y="2240280"/>
            <a:ext cx="2814218" cy="1005840"/>
          </a:xfrm>
          <a:prstGeom prst="rect">
            <a:avLst/>
          </a:prstGeom>
          <a:noFill/>
          <a:ln/>
        </p:spPr>
        <p:txBody>
          <a:bodyPr wrap="square" lIns="0" tIns="0" rIns="0" bIns="0" rtlCol="0" anchor="t"/>
          <a:lstStyle/>
          <a:p>
            <a:pPr indent="0" marL="0">
              <a:buNone/>
            </a:pPr>
            <a:r>
              <a:rPr lang="en-US" sz="6000" b="1" dirty="0">
                <a:solidFill>
                  <a:schemeClr val="bg1"/>
                </a:solidFill>
              </a:rPr>
              <a:t>46 dB</a:t>
            </a:r>
            <a:endParaRPr lang="en-US" sz="6000" dirty="0"/>
          </a:p>
        </p:txBody>
      </p:sp>
      <p:sp>
        <p:nvSpPr>
          <p:cNvPr id="12" name="Text 10"/>
          <p:cNvSpPr txBox="1"/>
          <p:nvPr/>
        </p:nvSpPr>
        <p:spPr>
          <a:xfrm>
            <a:off x="8508797" y="3337560"/>
            <a:ext cx="2814218" cy="914400"/>
          </a:xfrm>
          <a:prstGeom prst="rect">
            <a:avLst/>
          </a:prstGeom>
          <a:noFill/>
          <a:ln/>
        </p:spPr>
        <p:txBody>
          <a:bodyPr wrap="square" lIns="0" tIns="0" rIns="0" bIns="0" rtlCol="0" anchor="t"/>
          <a:lstStyle/>
          <a:p>
            <a:pPr indent="0" marL="0">
              <a:buNone/>
            </a:pPr>
            <a:r>
              <a:rPr lang="en-US" sz="1600" dirty="0">
                <a:solidFill>
                  <a:schemeClr val="accent6"/>
                </a:solidFill>
              </a:rPr>
              <a:t>PSNR after skin smoothing (SSIM 0.998): a subtle, local edit</a:t>
            </a:r>
            <a:endParaRPr lang="en-US" sz="1600" dirty="0"/>
          </a:p>
        </p:txBody>
      </p:sp>
      <p:sp>
        <p:nvSpPr>
          <p:cNvPr id="13" name="Text 11"/>
          <p:cNvSpPr txBox="1"/>
          <p:nvPr/>
        </p:nvSpPr>
        <p:spPr>
          <a:xfrm>
            <a:off x="548640" y="4709160"/>
            <a:ext cx="11094415" cy="914400"/>
          </a:xfrm>
          <a:prstGeom prst="rect">
            <a:avLst/>
          </a:prstGeom>
          <a:noFill/>
          <a:ln/>
        </p:spPr>
        <p:txBody>
          <a:bodyPr wrap="square" lIns="0" tIns="0" rIns="0" bIns="0" rtlCol="0" anchor="t"/>
          <a:lstStyle/>
          <a:p>
            <a:pPr indent="0" marL="0">
              <a:buNone/>
            </a:pPr>
            <a:r>
              <a:rPr lang="en-US" sz="1800" dirty="0">
                <a:solidFill>
                  <a:schemeClr val="accent6"/>
                </a:solidFill>
              </a:rPr>
              <a:t>Background replacement scores 9.8 dB because it rewrites half the frame. Greyscale scores SSIM 1.000 because SSIM uses luminance only: </a:t>
            </a:r>
            <a:pPr indent="0" marL="0">
              <a:buNone/>
            </a:pPr>
            <a:r>
              <a:rPr lang="en-US" sz="1800" b="1" dirty="0">
                <a:solidFill>
                  <a:schemeClr val="accent1"/>
                </a:solidFill>
              </a:rPr>
              <a:t>these metrics measure change, not quality.</a:t>
            </a:r>
            <a:endParaRPr lang="en-US" sz="1800" dirty="0"/>
          </a:p>
        </p:txBody>
      </p:sp>
      <p:sp>
        <p:nvSpPr>
          <p:cNvPr id="14" name="Text 12"/>
          <p:cNvSpPr txBox="1"/>
          <p:nvPr/>
        </p:nvSpPr>
        <p:spPr>
          <a:xfrm>
            <a:off x="548640" y="5989320"/>
            <a:ext cx="9997135" cy="320040"/>
          </a:xfrm>
          <a:prstGeom prst="rect">
            <a:avLst/>
          </a:prstGeom>
          <a:noFill/>
          <a:ln/>
        </p:spPr>
        <p:txBody>
          <a:bodyPr wrap="square" lIns="0" tIns="0" rIns="0" bIns="0" rtlCol="0" anchor="t"/>
          <a:lstStyle/>
          <a:p>
            <a:pPr indent="0" marL="0">
              <a:buNone/>
            </a:pPr>
            <a:r>
              <a:rPr lang="en-US" sz="1100" dirty="0">
                <a:solidFill>
                  <a:schemeClr val="accent6"/>
                </a:solidFill>
              </a:rPr>
              <a:t>4-core CPU, no GPU · 512×512 sample image · mean of 10 runs · benchmark.py</a:t>
            </a:r>
            <a:endParaRPr lang="en-US" sz="11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2"/>
                </a:solidFill>
              </a:rPr>
              <a:t>IPCV CONCEPTS LAB · SPARSH</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tx1"/>
                </a:solidFill>
              </a:rPr>
              <a:t>The syllabus, live, on the same photo</a:t>
            </a:r>
            <a:endParaRPr lang="en-US" sz="3400" dirty="0"/>
          </a:p>
        </p:txBody>
      </p:sp>
      <p:sp>
        <p:nvSpPr>
          <p:cNvPr id="4" name="Lab frame 1"/>
          <p:cNvSpPr/>
          <p:nvPr/>
        </p:nvSpPr>
        <p:spPr>
          <a:xfrm>
            <a:off x="548640" y="1783080"/>
            <a:ext cx="5364328" cy="2926080"/>
          </a:xfrm>
          <a:prstGeom prst="roundRect">
            <a:avLst>
              <a:gd name="adj" fmla="val 3125"/>
            </a:avLst>
          </a:prstGeom>
          <a:solidFill>
            <a:schemeClr val="tx1"/>
          </a:solidFill>
          <a:ln/>
        </p:spPr>
      </p:sp>
      <p:pic>
        <p:nvPicPr>
          <p:cNvPr id="5" name="Image 0" descr="IPCV Lab: Butterworth low-pass filter with spectrum, filter and result">    </p:cNvPr>
          <p:cNvPicPr>
            <a:picLocks noChangeAspect="1"/>
          </p:cNvPicPr>
          <p:nvPr/>
        </p:nvPicPr>
        <p:blipFill>
          <a:blip r:embed="rId1"/>
          <a:stretch>
            <a:fillRect/>
          </a:stretch>
        </p:blipFill>
        <p:spPr>
          <a:xfrm>
            <a:off x="640080" y="1972713"/>
            <a:ext cx="5181448" cy="2546813"/>
          </a:xfrm>
          <a:prstGeom prst="rect">
            <a:avLst/>
          </a:prstGeom>
        </p:spPr>
      </p:pic>
      <p:sp>
        <p:nvSpPr>
          <p:cNvPr id="6" name="Lab frame 2"/>
          <p:cNvSpPr/>
          <p:nvPr/>
        </p:nvSpPr>
        <p:spPr>
          <a:xfrm>
            <a:off x="6278728" y="1783080"/>
            <a:ext cx="5364328" cy="2926080"/>
          </a:xfrm>
          <a:prstGeom prst="roundRect">
            <a:avLst>
              <a:gd name="adj" fmla="val 3125"/>
            </a:avLst>
          </a:prstGeom>
          <a:solidFill>
            <a:schemeClr val="tx1"/>
          </a:solidFill>
          <a:ln/>
        </p:spPr>
      </p:sp>
      <p:pic>
        <p:nvPicPr>
          <p:cNvPr id="7" name="Image 1" descr="IPCV Lab: Gaussian noise and median denoising with PSNR">    </p:cNvPr>
          <p:cNvPicPr>
            <a:picLocks noChangeAspect="1"/>
          </p:cNvPicPr>
          <p:nvPr/>
        </p:nvPicPr>
        <p:blipFill>
          <a:blip r:embed="rId2"/>
          <a:stretch>
            <a:fillRect/>
          </a:stretch>
        </p:blipFill>
        <p:spPr>
          <a:xfrm>
            <a:off x="6712991" y="1874520"/>
            <a:ext cx="4495800" cy="2743200"/>
          </a:xfrm>
          <a:prstGeom prst="rect">
            <a:avLst/>
          </a:prstGeom>
        </p:spPr>
      </p:pic>
      <p:sp>
        <p:nvSpPr>
          <p:cNvPr id="8" name="Topic Colour spaces"/>
          <p:cNvSpPr/>
          <p:nvPr/>
        </p:nvSpPr>
        <p:spPr>
          <a:xfrm>
            <a:off x="548640" y="4937760"/>
            <a:ext cx="2602154" cy="475488"/>
          </a:xfrm>
          <a:prstGeom prst="roundRect">
            <a:avLst>
              <a:gd name="adj" fmla="val 19231"/>
            </a:avLst>
          </a:prstGeom>
          <a:solidFill>
            <a:schemeClr val="bg1"/>
          </a:solidFill>
          <a:ln w="9525">
            <a:solidFill>
              <a:srgbClr val="DDD8CC"/>
            </a:solidFill>
            <a:prstDash val="solid"/>
          </a:ln>
        </p:spPr>
      </p:sp>
      <p:sp>
        <p:nvSpPr>
          <p:cNvPr id="9" name="Text 5"/>
          <p:cNvSpPr txBox="1"/>
          <p:nvPr/>
        </p:nvSpPr>
        <p:spPr>
          <a:xfrm>
            <a:off x="685800" y="4937760"/>
            <a:ext cx="2327834" cy="475488"/>
          </a:xfrm>
          <a:prstGeom prst="rect">
            <a:avLst/>
          </a:prstGeom>
          <a:noFill/>
          <a:ln/>
        </p:spPr>
        <p:txBody>
          <a:bodyPr wrap="square" lIns="0" tIns="0" rIns="0" bIns="0" rtlCol="0" anchor="ctr"/>
          <a:lstStyle/>
          <a:p>
            <a:pPr indent="0" marL="0">
              <a:buNone/>
            </a:pPr>
            <a:r>
              <a:rPr lang="en-US" sz="1500" dirty="0">
                <a:solidFill>
                  <a:schemeClr val="tx1"/>
                </a:solidFill>
              </a:rPr>
              <a:t>Colour spaces</a:t>
            </a:r>
            <a:endParaRPr lang="en-US" sz="1500" dirty="0"/>
          </a:p>
        </p:txBody>
      </p:sp>
      <p:sp>
        <p:nvSpPr>
          <p:cNvPr id="10" name="Topic Equalisation and CLAHE"/>
          <p:cNvSpPr/>
          <p:nvPr/>
        </p:nvSpPr>
        <p:spPr>
          <a:xfrm>
            <a:off x="3379394" y="4937760"/>
            <a:ext cx="2602154" cy="475488"/>
          </a:xfrm>
          <a:prstGeom prst="roundRect">
            <a:avLst>
              <a:gd name="adj" fmla="val 19231"/>
            </a:avLst>
          </a:prstGeom>
          <a:solidFill>
            <a:schemeClr val="bg1"/>
          </a:solidFill>
          <a:ln w="9525">
            <a:solidFill>
              <a:srgbClr val="DDD8CC"/>
            </a:solidFill>
            <a:prstDash val="solid"/>
          </a:ln>
        </p:spPr>
      </p:sp>
      <p:sp>
        <p:nvSpPr>
          <p:cNvPr id="11" name="Text 7"/>
          <p:cNvSpPr txBox="1"/>
          <p:nvPr/>
        </p:nvSpPr>
        <p:spPr>
          <a:xfrm>
            <a:off x="3516554" y="4937760"/>
            <a:ext cx="2327834" cy="475488"/>
          </a:xfrm>
          <a:prstGeom prst="rect">
            <a:avLst/>
          </a:prstGeom>
          <a:noFill/>
          <a:ln/>
        </p:spPr>
        <p:txBody>
          <a:bodyPr wrap="square" lIns="0" tIns="0" rIns="0" bIns="0" rtlCol="0" anchor="ctr"/>
          <a:lstStyle/>
          <a:p>
            <a:pPr indent="0" marL="0">
              <a:buNone/>
            </a:pPr>
            <a:r>
              <a:rPr lang="en-US" sz="1500" dirty="0">
                <a:solidFill>
                  <a:schemeClr val="tx1"/>
                </a:solidFill>
              </a:rPr>
              <a:t>Equalisation and CLAHE</a:t>
            </a:r>
            <a:endParaRPr lang="en-US" sz="1500" dirty="0"/>
          </a:p>
        </p:txBody>
      </p:sp>
      <p:sp>
        <p:nvSpPr>
          <p:cNvPr id="12" name="Topic Noise and 5 denoisers"/>
          <p:cNvSpPr/>
          <p:nvPr/>
        </p:nvSpPr>
        <p:spPr>
          <a:xfrm>
            <a:off x="6210148" y="4937760"/>
            <a:ext cx="2602154" cy="475488"/>
          </a:xfrm>
          <a:prstGeom prst="roundRect">
            <a:avLst>
              <a:gd name="adj" fmla="val 19231"/>
            </a:avLst>
          </a:prstGeom>
          <a:solidFill>
            <a:schemeClr val="bg1"/>
          </a:solidFill>
          <a:ln w="9525">
            <a:solidFill>
              <a:srgbClr val="DDD8CC"/>
            </a:solidFill>
            <a:prstDash val="solid"/>
          </a:ln>
        </p:spPr>
      </p:sp>
      <p:sp>
        <p:nvSpPr>
          <p:cNvPr id="13" name="Text 9"/>
          <p:cNvSpPr txBox="1"/>
          <p:nvPr/>
        </p:nvSpPr>
        <p:spPr>
          <a:xfrm>
            <a:off x="6347308" y="4937760"/>
            <a:ext cx="2327834" cy="475488"/>
          </a:xfrm>
          <a:prstGeom prst="rect">
            <a:avLst/>
          </a:prstGeom>
          <a:noFill/>
          <a:ln/>
        </p:spPr>
        <p:txBody>
          <a:bodyPr wrap="square" lIns="0" tIns="0" rIns="0" bIns="0" rtlCol="0" anchor="ctr"/>
          <a:lstStyle/>
          <a:p>
            <a:pPr indent="0" marL="0">
              <a:buNone/>
            </a:pPr>
            <a:r>
              <a:rPr lang="en-US" sz="1500" dirty="0">
                <a:solidFill>
                  <a:schemeClr val="tx1"/>
                </a:solidFill>
              </a:rPr>
              <a:t>Noise and 5 denoisers</a:t>
            </a:r>
            <a:endParaRPr lang="en-US" sz="1500" dirty="0"/>
          </a:p>
        </p:txBody>
      </p:sp>
      <p:sp>
        <p:nvSpPr>
          <p:cNvPr id="14" name="Topic Sobel · Prewitt · Canny"/>
          <p:cNvSpPr/>
          <p:nvPr/>
        </p:nvSpPr>
        <p:spPr>
          <a:xfrm>
            <a:off x="9040901" y="4937760"/>
            <a:ext cx="2602154" cy="475488"/>
          </a:xfrm>
          <a:prstGeom prst="roundRect">
            <a:avLst>
              <a:gd name="adj" fmla="val 19231"/>
            </a:avLst>
          </a:prstGeom>
          <a:solidFill>
            <a:schemeClr val="bg1"/>
          </a:solidFill>
          <a:ln w="9525">
            <a:solidFill>
              <a:srgbClr val="DDD8CC"/>
            </a:solidFill>
            <a:prstDash val="solid"/>
          </a:ln>
        </p:spPr>
      </p:sp>
      <p:sp>
        <p:nvSpPr>
          <p:cNvPr id="15" name="Text 11"/>
          <p:cNvSpPr txBox="1"/>
          <p:nvPr/>
        </p:nvSpPr>
        <p:spPr>
          <a:xfrm>
            <a:off x="9178061" y="4937760"/>
            <a:ext cx="2327834" cy="475488"/>
          </a:xfrm>
          <a:prstGeom prst="rect">
            <a:avLst/>
          </a:prstGeom>
          <a:noFill/>
          <a:ln/>
        </p:spPr>
        <p:txBody>
          <a:bodyPr wrap="square" lIns="0" tIns="0" rIns="0" bIns="0" rtlCol="0" anchor="ctr"/>
          <a:lstStyle/>
          <a:p>
            <a:pPr indent="0" marL="0">
              <a:buNone/>
            </a:pPr>
            <a:r>
              <a:rPr lang="en-US" sz="1500" dirty="0">
                <a:solidFill>
                  <a:schemeClr val="tx1"/>
                </a:solidFill>
              </a:rPr>
              <a:t>Sobel · Prewitt · Canny</a:t>
            </a:r>
            <a:endParaRPr lang="en-US" sz="1500" dirty="0"/>
          </a:p>
        </p:txBody>
      </p:sp>
      <p:sp>
        <p:nvSpPr>
          <p:cNvPr id="16" name="Topic Otsu and adaptive threshold"/>
          <p:cNvSpPr/>
          <p:nvPr/>
        </p:nvSpPr>
        <p:spPr>
          <a:xfrm>
            <a:off x="548640" y="5559552"/>
            <a:ext cx="2602154" cy="475488"/>
          </a:xfrm>
          <a:prstGeom prst="roundRect">
            <a:avLst>
              <a:gd name="adj" fmla="val 19231"/>
            </a:avLst>
          </a:prstGeom>
          <a:solidFill>
            <a:schemeClr val="bg1"/>
          </a:solidFill>
          <a:ln w="9525">
            <a:solidFill>
              <a:srgbClr val="DDD8CC"/>
            </a:solidFill>
            <a:prstDash val="solid"/>
          </a:ln>
        </p:spPr>
      </p:sp>
      <p:sp>
        <p:nvSpPr>
          <p:cNvPr id="17" name="Text 13"/>
          <p:cNvSpPr txBox="1"/>
          <p:nvPr/>
        </p:nvSpPr>
        <p:spPr>
          <a:xfrm>
            <a:off x="685800" y="5559552"/>
            <a:ext cx="2327834" cy="475488"/>
          </a:xfrm>
          <a:prstGeom prst="rect">
            <a:avLst/>
          </a:prstGeom>
          <a:noFill/>
          <a:ln/>
        </p:spPr>
        <p:txBody>
          <a:bodyPr wrap="square" lIns="0" tIns="0" rIns="0" bIns="0" rtlCol="0" anchor="ctr"/>
          <a:lstStyle/>
          <a:p>
            <a:pPr indent="0" marL="0">
              <a:buNone/>
            </a:pPr>
            <a:r>
              <a:rPr lang="en-US" sz="1500" dirty="0">
                <a:solidFill>
                  <a:schemeClr val="tx1"/>
                </a:solidFill>
              </a:rPr>
              <a:t>Otsu and adaptive threshold</a:t>
            </a:r>
            <a:endParaRPr lang="en-US" sz="1500" dirty="0"/>
          </a:p>
        </p:txBody>
      </p:sp>
      <p:sp>
        <p:nvSpPr>
          <p:cNvPr id="18" name="Topic 6 morphology operations"/>
          <p:cNvSpPr/>
          <p:nvPr/>
        </p:nvSpPr>
        <p:spPr>
          <a:xfrm>
            <a:off x="3379394" y="5559552"/>
            <a:ext cx="2602154" cy="475488"/>
          </a:xfrm>
          <a:prstGeom prst="roundRect">
            <a:avLst>
              <a:gd name="adj" fmla="val 19231"/>
            </a:avLst>
          </a:prstGeom>
          <a:solidFill>
            <a:schemeClr val="bg1"/>
          </a:solidFill>
          <a:ln w="9525">
            <a:solidFill>
              <a:srgbClr val="DDD8CC"/>
            </a:solidFill>
            <a:prstDash val="solid"/>
          </a:ln>
        </p:spPr>
      </p:sp>
      <p:sp>
        <p:nvSpPr>
          <p:cNvPr id="19" name="Text 15"/>
          <p:cNvSpPr txBox="1"/>
          <p:nvPr/>
        </p:nvSpPr>
        <p:spPr>
          <a:xfrm>
            <a:off x="3516554" y="5559552"/>
            <a:ext cx="2327834" cy="475488"/>
          </a:xfrm>
          <a:prstGeom prst="rect">
            <a:avLst/>
          </a:prstGeom>
          <a:noFill/>
          <a:ln/>
        </p:spPr>
        <p:txBody>
          <a:bodyPr wrap="square" lIns="0" tIns="0" rIns="0" bIns="0" rtlCol="0" anchor="ctr"/>
          <a:lstStyle/>
          <a:p>
            <a:pPr indent="0" marL="0">
              <a:buNone/>
            </a:pPr>
            <a:r>
              <a:rPr lang="en-US" sz="1500" dirty="0">
                <a:solidFill>
                  <a:schemeClr val="tx1"/>
                </a:solidFill>
              </a:rPr>
              <a:t>6 morphology operations</a:t>
            </a:r>
            <a:endParaRPr lang="en-US" sz="1500" dirty="0"/>
          </a:p>
        </p:txBody>
      </p:sp>
      <p:sp>
        <p:nvSpPr>
          <p:cNvPr id="20" name="Topic FFT low/high-pass"/>
          <p:cNvSpPr/>
          <p:nvPr/>
        </p:nvSpPr>
        <p:spPr>
          <a:xfrm>
            <a:off x="6210148" y="5559552"/>
            <a:ext cx="2602154" cy="475488"/>
          </a:xfrm>
          <a:prstGeom prst="roundRect">
            <a:avLst>
              <a:gd name="adj" fmla="val 19231"/>
            </a:avLst>
          </a:prstGeom>
          <a:solidFill>
            <a:schemeClr val="bg1"/>
          </a:solidFill>
          <a:ln w="9525">
            <a:solidFill>
              <a:srgbClr val="DDD8CC"/>
            </a:solidFill>
            <a:prstDash val="solid"/>
          </a:ln>
        </p:spPr>
      </p:sp>
      <p:sp>
        <p:nvSpPr>
          <p:cNvPr id="21" name="Text 17"/>
          <p:cNvSpPr txBox="1"/>
          <p:nvPr/>
        </p:nvSpPr>
        <p:spPr>
          <a:xfrm>
            <a:off x="6347308" y="5559552"/>
            <a:ext cx="2327834" cy="475488"/>
          </a:xfrm>
          <a:prstGeom prst="rect">
            <a:avLst/>
          </a:prstGeom>
          <a:noFill/>
          <a:ln/>
        </p:spPr>
        <p:txBody>
          <a:bodyPr wrap="square" lIns="0" tIns="0" rIns="0" bIns="0" rtlCol="0" anchor="ctr"/>
          <a:lstStyle/>
          <a:p>
            <a:pPr indent="0" marL="0">
              <a:buNone/>
            </a:pPr>
            <a:r>
              <a:rPr lang="en-US" sz="1500" dirty="0">
                <a:solidFill>
                  <a:schemeClr val="tx1"/>
                </a:solidFill>
              </a:rPr>
              <a:t>FFT low/high-pass</a:t>
            </a:r>
            <a:endParaRPr lang="en-US" sz="1500" dirty="0"/>
          </a:p>
        </p:txBody>
      </p:sp>
      <p:sp>
        <p:nvSpPr>
          <p:cNvPr id="22" name="Topic Affine transforms"/>
          <p:cNvSpPr/>
          <p:nvPr/>
        </p:nvSpPr>
        <p:spPr>
          <a:xfrm>
            <a:off x="9040901" y="5559552"/>
            <a:ext cx="2602154" cy="475488"/>
          </a:xfrm>
          <a:prstGeom prst="roundRect">
            <a:avLst>
              <a:gd name="adj" fmla="val 19231"/>
            </a:avLst>
          </a:prstGeom>
          <a:solidFill>
            <a:schemeClr val="bg1"/>
          </a:solidFill>
          <a:ln w="9525">
            <a:solidFill>
              <a:srgbClr val="DDD8CC"/>
            </a:solidFill>
            <a:prstDash val="solid"/>
          </a:ln>
        </p:spPr>
      </p:sp>
      <p:sp>
        <p:nvSpPr>
          <p:cNvPr id="23" name="Text 19"/>
          <p:cNvSpPr txBox="1"/>
          <p:nvPr/>
        </p:nvSpPr>
        <p:spPr>
          <a:xfrm>
            <a:off x="9178061" y="5559552"/>
            <a:ext cx="2327834" cy="475488"/>
          </a:xfrm>
          <a:prstGeom prst="rect">
            <a:avLst/>
          </a:prstGeom>
          <a:noFill/>
          <a:ln/>
        </p:spPr>
        <p:txBody>
          <a:bodyPr wrap="square" lIns="0" tIns="0" rIns="0" bIns="0" rtlCol="0" anchor="ctr"/>
          <a:lstStyle/>
          <a:p>
            <a:pPr indent="0" marL="0">
              <a:buNone/>
            </a:pPr>
            <a:r>
              <a:rPr lang="en-US" sz="1500" dirty="0">
                <a:solidFill>
                  <a:schemeClr val="tx1"/>
                </a:solidFill>
              </a:rPr>
              <a:t>Affine transforms</a:t>
            </a:r>
            <a:endParaRPr lang="en-US" sz="15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731520"/>
            <a:ext cx="11094415" cy="365760"/>
          </a:xfrm>
          <a:prstGeom prst="rect">
            <a:avLst/>
          </a:prstGeom>
          <a:noFill/>
          <a:ln/>
        </p:spPr>
        <p:txBody>
          <a:bodyPr wrap="square" lIns="0" tIns="0" rIns="0" bIns="0" rtlCol="0" anchor="t"/>
          <a:lstStyle/>
          <a:p>
            <a:pPr indent="0" marL="0">
              <a:buNone/>
            </a:pPr>
            <a:r>
              <a:rPr lang="en-US" sz="1500" b="1" spc="300" kern="0" dirty="0">
                <a:solidFill>
                  <a:schemeClr val="tx1"/>
                </a:solidFill>
              </a:rPr>
              <a:t>LIVE DEMO · SPARSH</a:t>
            </a:r>
            <a:endParaRPr lang="en-US" sz="1500" dirty="0"/>
          </a:p>
        </p:txBody>
      </p:sp>
      <p:sp>
        <p:nvSpPr>
          <p:cNvPr id="3" name="Text 1"/>
          <p:cNvSpPr txBox="1"/>
          <p:nvPr/>
        </p:nvSpPr>
        <p:spPr>
          <a:xfrm>
            <a:off x="548640" y="1280160"/>
            <a:ext cx="11094415" cy="1463040"/>
          </a:xfrm>
          <a:prstGeom prst="rect">
            <a:avLst/>
          </a:prstGeom>
          <a:noFill/>
          <a:ln/>
        </p:spPr>
        <p:txBody>
          <a:bodyPr wrap="square" lIns="0" tIns="0" rIns="0" bIns="0" rtlCol="0" anchor="t"/>
          <a:lstStyle/>
          <a:p>
            <a:pPr indent="0" marL="0">
              <a:buNone/>
            </a:pPr>
            <a:r>
              <a:rPr lang="en-US" sz="6000" b="1" dirty="0">
                <a:solidFill>
                  <a:schemeClr val="tx1"/>
                </a:solidFill>
              </a:rPr>
              <a:t>15 effects on the live webcam</a:t>
            </a:r>
            <a:endParaRPr lang="en-US" sz="6000" dirty="0"/>
          </a:p>
        </p:txBody>
      </p:sp>
      <p:sp>
        <p:nvSpPr>
          <p:cNvPr id="4" name="Text 2"/>
          <p:cNvSpPr txBox="1"/>
          <p:nvPr/>
        </p:nvSpPr>
        <p:spPr>
          <a:xfrm>
            <a:off x="548640" y="2834640"/>
            <a:ext cx="8686800" cy="1097280"/>
          </a:xfrm>
          <a:prstGeom prst="rect">
            <a:avLst/>
          </a:prstGeom>
          <a:noFill/>
          <a:ln/>
        </p:spPr>
        <p:txBody>
          <a:bodyPr wrap="square" lIns="0" tIns="0" rIns="0" bIns="0" rtlCol="0" anchor="t"/>
          <a:lstStyle/>
          <a:p>
            <a:pPr indent="0" marL="0">
              <a:buNone/>
            </a:pPr>
            <a:r>
              <a:rPr lang="en-US" sz="2000" dirty="0">
                <a:solidFill>
                  <a:schemeClr val="tx1"/>
                </a:solidFill>
              </a:rPr>
              <a:t>AR overlays, head pose with a blink counter, privacy blur, portrait mode and more, all on the laptop CPU with an on-screen FPS counter</a:t>
            </a:r>
            <a:endParaRPr lang="en-US" sz="2000" dirty="0"/>
          </a:p>
        </p:txBody>
      </p:sp>
      <p:sp>
        <p:nvSpPr>
          <p:cNvPr id="5" name="Key 1 · Sunglasses"/>
          <p:cNvSpPr/>
          <p:nvPr/>
        </p:nvSpPr>
        <p:spPr>
          <a:xfrm>
            <a:off x="548640" y="4937760"/>
            <a:ext cx="1691640" cy="548640"/>
          </a:xfrm>
          <a:prstGeom prst="roundRect">
            <a:avLst>
              <a:gd name="adj" fmla="val 50000"/>
            </a:avLst>
          </a:prstGeom>
          <a:solidFill>
            <a:schemeClr val="tx1"/>
          </a:solidFill>
          <a:ln/>
        </p:spPr>
      </p:sp>
      <p:sp>
        <p:nvSpPr>
          <p:cNvPr id="6" name="Text 4"/>
          <p:cNvSpPr txBox="1"/>
          <p:nvPr/>
        </p:nvSpPr>
        <p:spPr>
          <a:xfrm>
            <a:off x="548640" y="4937760"/>
            <a:ext cx="1691640" cy="548640"/>
          </a:xfrm>
          <a:prstGeom prst="rect">
            <a:avLst/>
          </a:prstGeom>
          <a:noFill/>
          <a:ln/>
        </p:spPr>
        <p:txBody>
          <a:bodyPr wrap="square" lIns="0" tIns="0" rIns="0" bIns="0" rtlCol="0" anchor="ctr"/>
          <a:lstStyle/>
          <a:p>
            <a:pPr algn="ctr" indent="0" marL="0">
              <a:buNone/>
            </a:pPr>
            <a:r>
              <a:rPr lang="en-US" sz="1600" dirty="0">
                <a:solidFill>
                  <a:schemeClr val="bg1"/>
                </a:solidFill>
              </a:rPr>
              <a:t>1 · Sunglasses</a:t>
            </a:r>
            <a:endParaRPr lang="en-US" sz="1600" dirty="0"/>
          </a:p>
        </p:txBody>
      </p:sp>
      <p:sp>
        <p:nvSpPr>
          <p:cNvPr id="7" name="Key 5 · Head pose + blinks"/>
          <p:cNvSpPr/>
          <p:nvPr/>
        </p:nvSpPr>
        <p:spPr>
          <a:xfrm>
            <a:off x="2423160" y="4937760"/>
            <a:ext cx="2423160" cy="548640"/>
          </a:xfrm>
          <a:prstGeom prst="roundRect">
            <a:avLst>
              <a:gd name="adj" fmla="val 50000"/>
            </a:avLst>
          </a:prstGeom>
          <a:solidFill>
            <a:schemeClr val="tx1"/>
          </a:solidFill>
          <a:ln/>
        </p:spPr>
      </p:sp>
      <p:sp>
        <p:nvSpPr>
          <p:cNvPr id="8" name="Text 6"/>
          <p:cNvSpPr txBox="1"/>
          <p:nvPr/>
        </p:nvSpPr>
        <p:spPr>
          <a:xfrm>
            <a:off x="2423160" y="4937760"/>
            <a:ext cx="2423160" cy="548640"/>
          </a:xfrm>
          <a:prstGeom prst="rect">
            <a:avLst/>
          </a:prstGeom>
          <a:noFill/>
          <a:ln/>
        </p:spPr>
        <p:txBody>
          <a:bodyPr wrap="square" lIns="0" tIns="0" rIns="0" bIns="0" rtlCol="0" anchor="ctr"/>
          <a:lstStyle/>
          <a:p>
            <a:pPr algn="ctr" indent="0" marL="0">
              <a:buNone/>
            </a:pPr>
            <a:r>
              <a:rPr lang="en-US" sz="1600" dirty="0">
                <a:solidFill>
                  <a:schemeClr val="bg1"/>
                </a:solidFill>
              </a:rPr>
              <a:t>5 · Head pose + blinks</a:t>
            </a:r>
            <a:endParaRPr lang="en-US" sz="1600" dirty="0"/>
          </a:p>
        </p:txBody>
      </p:sp>
      <p:sp>
        <p:nvSpPr>
          <p:cNvPr id="9" name="Key 8 · Privacy blur"/>
          <p:cNvSpPr/>
          <p:nvPr/>
        </p:nvSpPr>
        <p:spPr>
          <a:xfrm>
            <a:off x="5029200" y="4937760"/>
            <a:ext cx="1874520" cy="548640"/>
          </a:xfrm>
          <a:prstGeom prst="roundRect">
            <a:avLst>
              <a:gd name="adj" fmla="val 50000"/>
            </a:avLst>
          </a:prstGeom>
          <a:solidFill>
            <a:schemeClr val="tx1"/>
          </a:solidFill>
          <a:ln/>
        </p:spPr>
      </p:sp>
      <p:sp>
        <p:nvSpPr>
          <p:cNvPr id="10" name="Text 8"/>
          <p:cNvSpPr txBox="1"/>
          <p:nvPr/>
        </p:nvSpPr>
        <p:spPr>
          <a:xfrm>
            <a:off x="5029200" y="4937760"/>
            <a:ext cx="1874520" cy="548640"/>
          </a:xfrm>
          <a:prstGeom prst="rect">
            <a:avLst/>
          </a:prstGeom>
          <a:noFill/>
          <a:ln/>
        </p:spPr>
        <p:txBody>
          <a:bodyPr wrap="square" lIns="0" tIns="0" rIns="0" bIns="0" rtlCol="0" anchor="ctr"/>
          <a:lstStyle/>
          <a:p>
            <a:pPr algn="ctr" indent="0" marL="0">
              <a:buNone/>
            </a:pPr>
            <a:r>
              <a:rPr lang="en-US" sz="1600" dirty="0">
                <a:solidFill>
                  <a:schemeClr val="bg1"/>
                </a:solidFill>
              </a:rPr>
              <a:t>8 · Privacy blur</a:t>
            </a:r>
            <a:endParaRPr lang="en-US" sz="1600" dirty="0"/>
          </a:p>
        </p:txBody>
      </p:sp>
      <p:sp>
        <p:nvSpPr>
          <p:cNvPr id="11" name="Key 0 · Portrait mode"/>
          <p:cNvSpPr/>
          <p:nvPr/>
        </p:nvSpPr>
        <p:spPr>
          <a:xfrm>
            <a:off x="7086600" y="4937760"/>
            <a:ext cx="1965960" cy="548640"/>
          </a:xfrm>
          <a:prstGeom prst="roundRect">
            <a:avLst>
              <a:gd name="adj" fmla="val 50000"/>
            </a:avLst>
          </a:prstGeom>
          <a:solidFill>
            <a:schemeClr val="tx1"/>
          </a:solidFill>
          <a:ln/>
        </p:spPr>
      </p:sp>
      <p:sp>
        <p:nvSpPr>
          <p:cNvPr id="12" name="Text 10"/>
          <p:cNvSpPr txBox="1"/>
          <p:nvPr/>
        </p:nvSpPr>
        <p:spPr>
          <a:xfrm>
            <a:off x="7086600" y="4937760"/>
            <a:ext cx="1965960" cy="548640"/>
          </a:xfrm>
          <a:prstGeom prst="rect">
            <a:avLst/>
          </a:prstGeom>
          <a:noFill/>
          <a:ln/>
        </p:spPr>
        <p:txBody>
          <a:bodyPr wrap="square" lIns="0" tIns="0" rIns="0" bIns="0" rtlCol="0" anchor="ctr"/>
          <a:lstStyle/>
          <a:p>
            <a:pPr algn="ctr" indent="0" marL="0">
              <a:buNone/>
            </a:pPr>
            <a:r>
              <a:rPr lang="en-US" sz="1600" dirty="0">
                <a:solidFill>
                  <a:schemeClr val="bg1"/>
                </a:solidFill>
              </a:rPr>
              <a:t>0 · Portrait mode</a:t>
            </a:r>
            <a:endParaRPr lang="en-US" sz="1600" dirty="0"/>
          </a:p>
        </p:txBody>
      </p:sp>
      <p:sp>
        <p:nvSpPr>
          <p:cNvPr id="13" name="Key s · Snapshot"/>
          <p:cNvSpPr/>
          <p:nvPr/>
        </p:nvSpPr>
        <p:spPr>
          <a:xfrm>
            <a:off x="9235440" y="4937760"/>
            <a:ext cx="1508760" cy="548640"/>
          </a:xfrm>
          <a:prstGeom prst="roundRect">
            <a:avLst>
              <a:gd name="adj" fmla="val 50000"/>
            </a:avLst>
          </a:prstGeom>
          <a:solidFill>
            <a:schemeClr val="tx1"/>
          </a:solidFill>
          <a:ln/>
        </p:spPr>
      </p:sp>
      <p:sp>
        <p:nvSpPr>
          <p:cNvPr id="14" name="Text 12"/>
          <p:cNvSpPr txBox="1"/>
          <p:nvPr/>
        </p:nvSpPr>
        <p:spPr>
          <a:xfrm>
            <a:off x="9235440" y="4937760"/>
            <a:ext cx="1508760" cy="548640"/>
          </a:xfrm>
          <a:prstGeom prst="rect">
            <a:avLst/>
          </a:prstGeom>
          <a:noFill/>
          <a:ln/>
        </p:spPr>
        <p:txBody>
          <a:bodyPr wrap="square" lIns="0" tIns="0" rIns="0" bIns="0" rtlCol="0" anchor="ctr"/>
          <a:lstStyle/>
          <a:p>
            <a:pPr algn="ctr" indent="0" marL="0">
              <a:buNone/>
            </a:pPr>
            <a:r>
              <a:rPr lang="en-US" sz="1600" dirty="0">
                <a:solidFill>
                  <a:schemeClr val="bg1"/>
                </a:solidFill>
              </a:rPr>
              <a:t>s · Snapshot</a:t>
            </a:r>
            <a:endParaRPr lang="en-US" sz="16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2"/>
                </a:solidFill>
              </a:rPr>
              <a:t>TEAM CONTRIBUTIONS</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tx1"/>
                </a:solidFill>
              </a:rPr>
              <a:t>Four members, four modules</a:t>
            </a:r>
            <a:endParaRPr lang="en-US" sz="3400" dirty="0"/>
          </a:p>
        </p:txBody>
      </p:sp>
      <p:sp>
        <p:nvSpPr>
          <p:cNvPr id="4" name="Member Anmol"/>
          <p:cNvSpPr/>
          <p:nvPr/>
        </p:nvSpPr>
        <p:spPr>
          <a:xfrm>
            <a:off x="548640" y="1920240"/>
            <a:ext cx="5364328" cy="1874520"/>
          </a:xfrm>
          <a:prstGeom prst="roundRect">
            <a:avLst>
              <a:gd name="adj" fmla="val 5854"/>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68680" y="2176272"/>
            <a:ext cx="4724248" cy="457200"/>
          </a:xfrm>
          <a:prstGeom prst="rect">
            <a:avLst/>
          </a:prstGeom>
          <a:noFill/>
          <a:ln/>
        </p:spPr>
        <p:txBody>
          <a:bodyPr wrap="square" lIns="0" tIns="0" rIns="0" bIns="0" rtlCol="0" anchor="t"/>
          <a:lstStyle/>
          <a:p>
            <a:pPr indent="0" marL="0">
              <a:buNone/>
            </a:pPr>
            <a:r>
              <a:rPr lang="en-US" sz="2100" b="1" dirty="0">
                <a:solidFill>
                  <a:schemeClr val="tx1"/>
                </a:solidFill>
              </a:rPr>
              <a:t>Anmol  </a:t>
            </a:r>
            <a:pPr indent="0" marL="0">
              <a:buNone/>
            </a:pPr>
            <a:r>
              <a:rPr lang="en-US" sz="2100" dirty="0">
                <a:solidFill>
                  <a:schemeClr val="tx2"/>
                </a:solidFill>
              </a:rPr>
              <a:t>20231129</a:t>
            </a:r>
            <a:endParaRPr lang="en-US" sz="2100" dirty="0"/>
          </a:p>
        </p:txBody>
      </p:sp>
      <p:sp>
        <p:nvSpPr>
          <p:cNvPr id="6" name="Text 4"/>
          <p:cNvSpPr txBox="1"/>
          <p:nvPr/>
        </p:nvSpPr>
        <p:spPr>
          <a:xfrm>
            <a:off x="868680" y="2697480"/>
            <a:ext cx="4724248" cy="914400"/>
          </a:xfrm>
          <a:prstGeom prst="rect">
            <a:avLst/>
          </a:prstGeom>
          <a:noFill/>
          <a:ln/>
        </p:spPr>
        <p:txBody>
          <a:bodyPr wrap="square" lIns="0" tIns="0" rIns="0" bIns="0" rtlCol="0" anchor="t"/>
          <a:lstStyle/>
          <a:p>
            <a:pPr indent="0" marL="0">
              <a:buNone/>
            </a:pPr>
            <a:r>
              <a:rPr lang="en-US" sz="1600" dirty="0">
                <a:solidFill>
                  <a:schemeClr val="tx2"/>
                </a:solidFill>
              </a:rPr>
              <a:t>Enhancement filters, the 7-stage pipeline, presets, quality metrics (PSNR, SSIM, histograms)</a:t>
            </a:r>
            <a:endParaRPr lang="en-US" sz="1600" dirty="0"/>
          </a:p>
        </p:txBody>
      </p:sp>
      <p:sp>
        <p:nvSpPr>
          <p:cNvPr id="7" name="Member Vansh Gupta"/>
          <p:cNvSpPr/>
          <p:nvPr/>
        </p:nvSpPr>
        <p:spPr>
          <a:xfrm>
            <a:off x="6278728" y="1920240"/>
            <a:ext cx="5364328" cy="1874520"/>
          </a:xfrm>
          <a:prstGeom prst="roundRect">
            <a:avLst>
              <a:gd name="adj" fmla="val 5854"/>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6598768" y="2176272"/>
            <a:ext cx="4724248" cy="457200"/>
          </a:xfrm>
          <a:prstGeom prst="rect">
            <a:avLst/>
          </a:prstGeom>
          <a:noFill/>
          <a:ln/>
        </p:spPr>
        <p:txBody>
          <a:bodyPr wrap="square" lIns="0" tIns="0" rIns="0" bIns="0" rtlCol="0" anchor="t"/>
          <a:lstStyle/>
          <a:p>
            <a:pPr indent="0" marL="0">
              <a:buNone/>
            </a:pPr>
            <a:r>
              <a:rPr lang="en-US" sz="2100" b="1" dirty="0">
                <a:solidFill>
                  <a:schemeClr val="tx1"/>
                </a:solidFill>
              </a:rPr>
              <a:t>Vansh Gupta  </a:t>
            </a:r>
            <a:pPr indent="0" marL="0">
              <a:buNone/>
            </a:pPr>
            <a:r>
              <a:rPr lang="en-US" sz="2100" dirty="0">
                <a:solidFill>
                  <a:schemeClr val="tx2"/>
                </a:solidFill>
              </a:rPr>
              <a:t>20233303</a:t>
            </a:r>
            <a:endParaRPr lang="en-US" sz="2100" dirty="0"/>
          </a:p>
        </p:txBody>
      </p:sp>
      <p:sp>
        <p:nvSpPr>
          <p:cNvPr id="9" name="Text 7"/>
          <p:cNvSpPr txBox="1"/>
          <p:nvPr/>
        </p:nvSpPr>
        <p:spPr>
          <a:xfrm>
            <a:off x="6598768" y="2697480"/>
            <a:ext cx="4724248" cy="914400"/>
          </a:xfrm>
          <a:prstGeom prst="rect">
            <a:avLst/>
          </a:prstGeom>
          <a:noFill/>
          <a:ln/>
        </p:spPr>
        <p:txBody>
          <a:bodyPr wrap="square" lIns="0" tIns="0" rIns="0" bIns="0" rtlCol="0" anchor="t"/>
          <a:lstStyle/>
          <a:p>
            <a:pPr indent="0" marL="0">
              <a:buNone/>
            </a:pPr>
            <a:r>
              <a:rPr lang="en-US" sz="1600" dirty="0">
                <a:solidFill>
                  <a:schemeClr val="tx2"/>
                </a:solidFill>
              </a:rPr>
              <a:t>Multi-scale face detection, 478-point mesh, head pose and blinks, Haar vs MediaPipe benchmark</a:t>
            </a:r>
            <a:endParaRPr lang="en-US" sz="1600" dirty="0"/>
          </a:p>
        </p:txBody>
      </p:sp>
      <p:sp>
        <p:nvSpPr>
          <p:cNvPr id="10" name="Member Shreyash Kumar Dube"/>
          <p:cNvSpPr/>
          <p:nvPr/>
        </p:nvSpPr>
        <p:spPr>
          <a:xfrm>
            <a:off x="548640" y="4069080"/>
            <a:ext cx="5364328" cy="1874520"/>
          </a:xfrm>
          <a:prstGeom prst="roundRect">
            <a:avLst>
              <a:gd name="adj" fmla="val 5854"/>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868680" y="4325112"/>
            <a:ext cx="4724248" cy="457200"/>
          </a:xfrm>
          <a:prstGeom prst="rect">
            <a:avLst/>
          </a:prstGeom>
          <a:noFill/>
          <a:ln/>
        </p:spPr>
        <p:txBody>
          <a:bodyPr wrap="square" lIns="0" tIns="0" rIns="0" bIns="0" rtlCol="0" anchor="t"/>
          <a:lstStyle/>
          <a:p>
            <a:pPr indent="0" marL="0">
              <a:buNone/>
            </a:pPr>
            <a:r>
              <a:rPr lang="en-US" sz="2100" b="1" dirty="0">
                <a:solidFill>
                  <a:schemeClr val="tx1"/>
                </a:solidFill>
              </a:rPr>
              <a:t>Shreyash Kumar Dube  </a:t>
            </a:r>
            <a:pPr indent="0" marL="0">
              <a:buNone/>
            </a:pPr>
            <a:r>
              <a:rPr lang="en-US" sz="2100" dirty="0">
                <a:solidFill>
                  <a:schemeClr val="tx2"/>
                </a:solidFill>
              </a:rPr>
              <a:t>20233567</a:t>
            </a:r>
            <a:endParaRPr lang="en-US" sz="2100" dirty="0"/>
          </a:p>
        </p:txBody>
      </p:sp>
      <p:sp>
        <p:nvSpPr>
          <p:cNvPr id="12" name="Text 10"/>
          <p:cNvSpPr txBox="1"/>
          <p:nvPr/>
        </p:nvSpPr>
        <p:spPr>
          <a:xfrm>
            <a:off x="868680" y="4846320"/>
            <a:ext cx="4724248" cy="914400"/>
          </a:xfrm>
          <a:prstGeom prst="rect">
            <a:avLst/>
          </a:prstGeom>
          <a:noFill/>
          <a:ln/>
        </p:spPr>
        <p:txBody>
          <a:bodyPr wrap="square" lIns="0" tIns="0" rIns="0" bIns="0" rtlCol="0" anchor="t"/>
          <a:lstStyle/>
          <a:p>
            <a:pPr indent="0" marL="0">
              <a:buNone/>
            </a:pPr>
            <a:r>
              <a:rPr lang="en-US" sz="1600" dirty="0">
                <a:solidFill>
                  <a:schemeClr val="tx2"/>
                </a:solidFill>
              </a:rPr>
              <a:t>Segmentation and backgrounds, AR overlays, skin smoothing, lip and eye tint, privacy filters</a:t>
            </a:r>
            <a:endParaRPr lang="en-US" sz="1600" dirty="0"/>
          </a:p>
        </p:txBody>
      </p:sp>
      <p:sp>
        <p:nvSpPr>
          <p:cNvPr id="13" name="Member Sparsh Singh"/>
          <p:cNvSpPr/>
          <p:nvPr/>
        </p:nvSpPr>
        <p:spPr>
          <a:xfrm>
            <a:off x="6278728" y="4069080"/>
            <a:ext cx="5364328" cy="1874520"/>
          </a:xfrm>
          <a:prstGeom prst="roundRect">
            <a:avLst>
              <a:gd name="adj" fmla="val 5854"/>
            </a:avLst>
          </a:prstGeom>
          <a:solidFill>
            <a:schemeClr val="bg1"/>
          </a:solidFill>
          <a:ln w="9525">
            <a:solidFill>
              <a:srgbClr val="DDD8CC"/>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6598768" y="4325112"/>
            <a:ext cx="4724248" cy="457200"/>
          </a:xfrm>
          <a:prstGeom prst="rect">
            <a:avLst/>
          </a:prstGeom>
          <a:noFill/>
          <a:ln/>
        </p:spPr>
        <p:txBody>
          <a:bodyPr wrap="square" lIns="0" tIns="0" rIns="0" bIns="0" rtlCol="0" anchor="t"/>
          <a:lstStyle/>
          <a:p>
            <a:pPr indent="0" marL="0">
              <a:buNone/>
            </a:pPr>
            <a:r>
              <a:rPr lang="en-US" sz="2100" b="1" dirty="0">
                <a:solidFill>
                  <a:schemeClr val="tx1"/>
                </a:solidFill>
              </a:rPr>
              <a:t>Sparsh Singh  </a:t>
            </a:r>
            <a:pPr indent="0" marL="0">
              <a:buNone/>
            </a:pPr>
            <a:r>
              <a:rPr lang="en-US" sz="2100" dirty="0">
                <a:solidFill>
                  <a:schemeClr val="tx2"/>
                </a:solidFill>
              </a:rPr>
              <a:t>20233277</a:t>
            </a:r>
            <a:endParaRPr lang="en-US" sz="2100" dirty="0"/>
          </a:p>
        </p:txBody>
      </p:sp>
      <p:sp>
        <p:nvSpPr>
          <p:cNvPr id="15" name="Text 13"/>
          <p:cNvSpPr txBox="1"/>
          <p:nvPr/>
        </p:nvSpPr>
        <p:spPr>
          <a:xfrm>
            <a:off x="6598768" y="4846320"/>
            <a:ext cx="4724248" cy="914400"/>
          </a:xfrm>
          <a:prstGeom prst="rect">
            <a:avLst/>
          </a:prstGeom>
          <a:noFill/>
          <a:ln/>
        </p:spPr>
        <p:txBody>
          <a:bodyPr wrap="square" lIns="0" tIns="0" rIns="0" bIns="0" rtlCol="0" anchor="t"/>
          <a:lstStyle/>
          <a:p>
            <a:pPr indent="0" marL="0">
              <a:buNone/>
            </a:pPr>
            <a:r>
              <a:rPr lang="en-US" sz="1600" dirty="0">
                <a:solidFill>
                  <a:schemeClr val="tx2"/>
                </a:solidFill>
              </a:rPr>
              <a:t>IPCV Concepts Lab, live camera, batch mode, user interface, testing and documentation</a:t>
            </a:r>
            <a:endParaRPr lang="en-US" sz="16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65760"/>
          </a:xfrm>
          <a:prstGeom prst="rect">
            <a:avLst/>
          </a:prstGeom>
          <a:noFill/>
          <a:ln/>
        </p:spPr>
        <p:txBody>
          <a:bodyPr wrap="square" lIns="0" tIns="0" rIns="0" bIns="0" rtlCol="0"/>
          <a:lstStyle/>
          <a:p>
            <a:pPr algn="l" indent="0" marL="0">
              <a:buNone/>
            </a:pPr>
            <a:r>
              <a:rPr lang="en-US" sz="1300" b="1" spc="200" kern="0" dirty="0">
                <a:solidFill>
                  <a:schemeClr val="accent1"/>
                </a:solidFill>
              </a:rPr>
              <a:t>CONCLUSION</a:t>
            </a:r>
            <a:endParaRPr lang="en-US" sz="1300" dirty="0"/>
          </a:p>
        </p:txBody>
      </p:sp>
      <p:sp>
        <p:nvSpPr>
          <p:cNvPr id="3" name="Text 0"/>
          <p:cNvSpPr/>
          <p:nvPr>
            <p:ph idx="101" type="title" hasCustomPrompt="1"/>
          </p:nvPr>
        </p:nvSpPr>
        <p:spPr>
          <a:xfrm>
            <a:off x="548640" y="749808"/>
            <a:ext cx="11094415" cy="1051560"/>
          </a:xfrm>
          <a:prstGeom prst="rect">
            <a:avLst/>
          </a:prstGeom>
          <a:noFill/>
          <a:ln/>
        </p:spPr>
        <p:txBody>
          <a:bodyPr wrap="square" lIns="0" tIns="0" rIns="0" bIns="0" rtlCol="0" anchor="t"/>
          <a:lstStyle/>
          <a:p>
            <a:pPr algn="l" indent="0" marL="0">
              <a:buNone/>
            </a:pPr>
            <a:r>
              <a:rPr lang="en-US" sz="3400" b="1" dirty="0">
                <a:solidFill>
                  <a:schemeClr val="bg1"/>
                </a:solidFill>
              </a:rPr>
              <a:t>Classical IPCV and three small models, in real time</a:t>
            </a:r>
            <a:endParaRPr lang="en-US" sz="3400" dirty="0"/>
          </a:p>
        </p:txBody>
      </p:sp>
      <p:sp>
        <p:nvSpPr>
          <p:cNvPr id="4" name="Text 2"/>
          <p:cNvSpPr txBox="1"/>
          <p:nvPr/>
        </p:nvSpPr>
        <p:spPr>
          <a:xfrm>
            <a:off x="548640" y="2103120"/>
            <a:ext cx="5303520" cy="2377440"/>
          </a:xfrm>
          <a:prstGeom prst="rect">
            <a:avLst/>
          </a:prstGeom>
          <a:noFill/>
          <a:ln/>
        </p:spPr>
        <p:txBody>
          <a:bodyPr wrap="square" lIns="0" tIns="0" rIns="0" bIns="0" rtlCol="0" anchor="t"/>
          <a:lstStyle/>
          <a:p>
            <a:pPr marL="342900" indent="-342900">
              <a:spcAft>
                <a:spcPts val="1400"/>
              </a:spcAft>
              <a:buSzPct val="100000"/>
              <a:buChar char="•"/>
            </a:pPr>
            <a:r>
              <a:rPr lang="en-US" sz="1900" dirty="0">
                <a:solidFill>
                  <a:schemeClr val="accent6"/>
                </a:solidFill>
              </a:rPr>
              <a:t>Compute once, reuse in 7 stages: fast and explainable</a:t>
            </a:r>
            <a:endParaRPr lang="en-US" sz="1900" dirty="0"/>
          </a:p>
          <a:p>
            <a:pPr marL="342900" indent="-342900">
              <a:spcAft>
                <a:spcPts val="1400"/>
              </a:spcAft>
              <a:buSzPct val="100000"/>
              <a:buChar char="•"/>
            </a:pPr>
            <a:r>
              <a:rPr lang="en-US" sz="1900" dirty="0">
                <a:solidFill>
                  <a:schemeClr val="accent6"/>
                </a:solidFill>
              </a:rPr>
              <a:t>BlazeFace beats Haar on rotation and speed</a:t>
            </a:r>
            <a:endParaRPr lang="en-US" sz="1900" dirty="0"/>
          </a:p>
          <a:p>
            <a:pPr marL="342900" indent="-342900">
              <a:spcAft>
                <a:spcPts val="1400"/>
              </a:spcAft>
              <a:buSzPct val="100000"/>
              <a:buChar char="•"/>
            </a:pPr>
            <a:r>
              <a:rPr lang="en-US" sz="1900" dirty="0">
                <a:solidFill>
                  <a:schemeClr val="accent6"/>
                </a:solidFill>
              </a:rPr>
              <a:t>Tiling fixes small faces: 2 to 16 of 20</a:t>
            </a:r>
            <a:endParaRPr lang="en-US" sz="1900" dirty="0"/>
          </a:p>
        </p:txBody>
      </p:sp>
      <p:sp>
        <p:nvSpPr>
          <p:cNvPr id="5" name="Card Limitations"/>
          <p:cNvSpPr/>
          <p:nvPr/>
        </p:nvSpPr>
        <p:spPr>
          <a:xfrm>
            <a:off x="6309360" y="1965960"/>
            <a:ext cx="5333695" cy="1371600"/>
          </a:xfrm>
          <a:prstGeom prst="roundRect">
            <a:avLst>
              <a:gd name="adj" fmla="val 8000"/>
            </a:avLst>
          </a:prstGeom>
          <a:solidFill>
            <a:schemeClr val="accent3"/>
          </a:solidFill>
          <a:ln w="9525">
            <a:solidFill>
              <a:srgbClr val="2F3A4D"/>
            </a:solidFill>
            <a:prstDash val="solid"/>
          </a:ln>
        </p:spPr>
      </p:sp>
      <p:sp>
        <p:nvSpPr>
          <p:cNvPr id="6" name="Text 4"/>
          <p:cNvSpPr txBox="1"/>
          <p:nvPr/>
        </p:nvSpPr>
        <p:spPr>
          <a:xfrm>
            <a:off x="6583680" y="2130552"/>
            <a:ext cx="4785055" cy="365760"/>
          </a:xfrm>
          <a:prstGeom prst="rect">
            <a:avLst/>
          </a:prstGeom>
          <a:noFill/>
          <a:ln/>
        </p:spPr>
        <p:txBody>
          <a:bodyPr wrap="square" lIns="0" tIns="0" rIns="0" bIns="0" rtlCol="0" anchor="t"/>
          <a:lstStyle/>
          <a:p>
            <a:pPr indent="0" marL="0">
              <a:buNone/>
            </a:pPr>
            <a:r>
              <a:rPr lang="en-US" sz="1900" b="1" dirty="0">
                <a:solidFill>
                  <a:schemeClr val="bg1"/>
                </a:solidFill>
              </a:rPr>
              <a:t>Limitations</a:t>
            </a:r>
            <a:endParaRPr lang="en-US" sz="1900" dirty="0"/>
          </a:p>
        </p:txBody>
      </p:sp>
      <p:sp>
        <p:nvSpPr>
          <p:cNvPr id="7" name="Text 5"/>
          <p:cNvSpPr txBox="1"/>
          <p:nvPr/>
        </p:nvSpPr>
        <p:spPr>
          <a:xfrm>
            <a:off x="6583680" y="2532888"/>
            <a:ext cx="4785055" cy="731520"/>
          </a:xfrm>
          <a:prstGeom prst="rect">
            <a:avLst/>
          </a:prstGeom>
          <a:noFill/>
          <a:ln/>
        </p:spPr>
        <p:txBody>
          <a:bodyPr wrap="square" lIns="0" tIns="0" rIns="0" bIns="0" rtlCol="0" anchor="t"/>
          <a:lstStyle/>
          <a:p>
            <a:pPr indent="0" marL="0">
              <a:buNone/>
            </a:pPr>
            <a:r>
              <a:rPr lang="en-US" sz="1500" dirty="0">
                <a:solidFill>
                  <a:schemeClr val="accent6"/>
                </a:solidFill>
              </a:rPr>
              <a:t>Tiny dark faces still missed; extra boxes under heavy noise; soft hair edges; 8 test images only</a:t>
            </a:r>
            <a:endParaRPr lang="en-US" sz="1500" dirty="0"/>
          </a:p>
        </p:txBody>
      </p:sp>
      <p:sp>
        <p:nvSpPr>
          <p:cNvPr id="8" name="Card Future work"/>
          <p:cNvSpPr/>
          <p:nvPr/>
        </p:nvSpPr>
        <p:spPr>
          <a:xfrm>
            <a:off x="6309360" y="3566160"/>
            <a:ext cx="5333695" cy="1371600"/>
          </a:xfrm>
          <a:prstGeom prst="roundRect">
            <a:avLst>
              <a:gd name="adj" fmla="val 8000"/>
            </a:avLst>
          </a:prstGeom>
          <a:solidFill>
            <a:schemeClr val="accent3"/>
          </a:solidFill>
          <a:ln w="9525">
            <a:solidFill>
              <a:srgbClr val="2F3A4D"/>
            </a:solidFill>
            <a:prstDash val="solid"/>
          </a:ln>
        </p:spPr>
      </p:sp>
      <p:sp>
        <p:nvSpPr>
          <p:cNvPr id="9" name="Text 7"/>
          <p:cNvSpPr txBox="1"/>
          <p:nvPr/>
        </p:nvSpPr>
        <p:spPr>
          <a:xfrm>
            <a:off x="6583680" y="3730752"/>
            <a:ext cx="4785055" cy="365760"/>
          </a:xfrm>
          <a:prstGeom prst="rect">
            <a:avLst/>
          </a:prstGeom>
          <a:noFill/>
          <a:ln/>
        </p:spPr>
        <p:txBody>
          <a:bodyPr wrap="square" lIns="0" tIns="0" rIns="0" bIns="0" rtlCol="0" anchor="t"/>
          <a:lstStyle/>
          <a:p>
            <a:pPr indent="0" marL="0">
              <a:buNone/>
            </a:pPr>
            <a:r>
              <a:rPr lang="en-US" sz="1900" b="1" dirty="0">
                <a:solidFill>
                  <a:schemeClr val="bg1"/>
                </a:solidFill>
              </a:rPr>
              <a:t>Future work</a:t>
            </a:r>
            <a:endParaRPr lang="en-US" sz="1900" dirty="0"/>
          </a:p>
        </p:txBody>
      </p:sp>
      <p:sp>
        <p:nvSpPr>
          <p:cNvPr id="10" name="Text 8"/>
          <p:cNvSpPr txBox="1"/>
          <p:nvPr/>
        </p:nvSpPr>
        <p:spPr>
          <a:xfrm>
            <a:off x="6583680" y="4133088"/>
            <a:ext cx="4785055" cy="731520"/>
          </a:xfrm>
          <a:prstGeom prst="rect">
            <a:avLst/>
          </a:prstGeom>
          <a:noFill/>
          <a:ln/>
        </p:spPr>
        <p:txBody>
          <a:bodyPr wrap="square" lIns="0" tIns="0" rIns="0" bIns="0" rtlCol="0" anchor="t"/>
          <a:lstStyle/>
          <a:p>
            <a:pPr indent="0" marL="0">
              <a:buNone/>
            </a:pPr>
            <a:r>
              <a:rPr lang="en-US" sz="1500" dirty="0">
                <a:solidFill>
                  <a:schemeClr val="accent6"/>
                </a:solidFill>
              </a:rPr>
              <a:t>Full-range detector, temporal smoothing of live landmarks, hair matting, a large labelled test set</a:t>
            </a:r>
            <a:endParaRPr lang="en-US" sz="1500" dirty="0"/>
          </a:p>
        </p:txBody>
      </p:sp>
      <p:sp>
        <p:nvSpPr>
          <p:cNvPr id="11" name="Text 9"/>
          <p:cNvSpPr txBox="1"/>
          <p:nvPr/>
        </p:nvSpPr>
        <p:spPr>
          <a:xfrm>
            <a:off x="548640" y="5257800"/>
            <a:ext cx="11094415" cy="731520"/>
          </a:xfrm>
          <a:prstGeom prst="rect">
            <a:avLst/>
          </a:prstGeom>
          <a:noFill/>
          <a:ln/>
        </p:spPr>
        <p:txBody>
          <a:bodyPr wrap="square" lIns="0" tIns="0" rIns="0" bIns="0" rtlCol="0" anchor="t"/>
          <a:lstStyle/>
          <a:p>
            <a:pPr indent="0" marL="0">
              <a:buNone/>
            </a:pPr>
            <a:r>
              <a:rPr lang="en-US" sz="3600" b="1" dirty="0">
                <a:solidFill>
                  <a:schemeClr val="accent1"/>
                </a:solidFill>
              </a:rPr>
              <a:t>Thank you · Questions?</a:t>
            </a:r>
            <a:endParaRPr lang="en-US" sz="3600" dirty="0"/>
          </a:p>
        </p:txBody>
      </p:sp>
      <p:sp>
        <p:nvSpPr>
          <p:cNvPr id="25" name="Slide Number Placeholder 0"/>
          <p:cNvSpPr>
            <a:spLocks noGrp="1"/>
          </p:cNvSpPr>
          <p:nvPr>
            <p:ph type="sldNum" sz="quarter" idx="4294967295"/>
          </p:nvPr>
        </p:nvSpPr>
        <p:spPr>
          <a:xfrm>
            <a:off x="10728655"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Face Studio Camera">
  <a:themeElements>
    <a:clrScheme name="Face Studio Camera">
      <a:dk1>
        <a:srgbClr val="12161F"/>
      </a:dk1>
      <a:lt1>
        <a:srgbClr val="FFFFFF"/>
      </a:lt1>
      <a:dk2>
        <a:srgbClr val="4A5363"/>
      </a:dk2>
      <a:lt2>
        <a:srgbClr val="F3F4F1"/>
      </a:lt2>
      <a:accent1>
        <a:srgbClr val="2EC4A6"/>
      </a:accent1>
      <a:accent2>
        <a:srgbClr val="1F8F7A"/>
      </a:accent2>
      <a:accent3>
        <a:srgbClr val="1C2230"/>
      </a:accent3>
      <a:accent4>
        <a:srgbClr val="A9A49A"/>
      </a:accent4>
      <a:accent5>
        <a:srgbClr val="C9B8FF"/>
      </a:accent5>
      <a:accent6>
        <a:srgbClr val="B9C3D0"/>
      </a:accent6>
      <a:hlink>
        <a:srgbClr val="1F8F7A"/>
      </a:hlink>
      <a:folHlink>
        <a:srgbClr val="5A3FC0"/>
      </a:folHlink>
    </a:clrScheme>
    <a:fontScheme name="Face Studio Camer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IPCV Section 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Studio Camera — IPCV Presentation</dc:title>
  <dc:subject>IPCV project, Section D</dc:subject>
  <dc:creator>IPCV Section D team</dc:creator>
  <cp:lastModifiedBy>IPCV Section D team</cp:lastModifiedBy>
  <cp:revision>1</cp:revision>
  <dcterms:created xsi:type="dcterms:W3CDTF">2026-10-28T16:19:46Z</dcterms:created>
  <dcterms:modified xsi:type="dcterms:W3CDTF">2026-10-28T16:19:46Z</dcterms:modified>
</cp:coreProperties>
</file>